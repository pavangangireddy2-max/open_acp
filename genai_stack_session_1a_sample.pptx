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9144000" cy="5143500"/>
  <p:notesSz cx="6858000" cy="9144000"/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/>
  <p:outlineViewPr/>
  <p:notesTextViewPr/>
  <p:gridSpacing cx="780288" cy="78028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ttom Bar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8624000" y="4943500"/>
            <a:ext cx="26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1100" dirty="0"/>
          </a:p>
        </p:txBody>
      </p:sp>
      <p:sp>
        <p:nvSpPr>
          <p:cNvPr id="5" name="Hero Circle"/>
          <p:cNvSpPr/>
          <p:nvPr/>
        </p:nvSpPr>
        <p:spPr>
          <a:xfrm>
            <a:off x="6500000" y="850000"/>
            <a:ext cx="1700000" cy="1700000"/>
          </a:xfrm>
          <a:prstGeom prst="ellipse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6" name="Hero Dot"/>
          <p:cNvSpPr/>
          <p:nvPr/>
        </p:nvSpPr>
        <p:spPr>
          <a:xfrm>
            <a:off x="7250000" y="1250000"/>
            <a:ext cx="280000" cy="28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Accent Line"/>
          <p:cNvCxnSpPr/>
          <p:nvPr/>
        </p:nvCxnSpPr>
        <p:spPr>
          <a:xfrm>
            <a:off x="900000" y="1780000"/>
            <a:ext cx="2100000" cy="0"/>
          </a:xfrm>
          <a:prstGeom prst="line">
            <a:avLst/>
          </a:prstGeom>
          <a:ln w="19050">
            <a:solidFill>
              <a:srgbClr val="FF9900"/>
            </a:solidFill>
          </a:ln>
        </p:spPr>
      </p:cxnSp>
      <p:sp>
        <p:nvSpPr>
          <p:cNvPr id="8" name="Title"/>
          <p:cNvSpPr txBox="1"/>
          <p:nvPr/>
        </p:nvSpPr>
        <p:spPr>
          <a:xfrm>
            <a:off x="800000" y="1050000"/>
            <a:ext cx="5400000" cy="9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26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WELCOME</a:t>
            </a:r>
            <a:endParaRPr lang="en-US" sz="2600" dirty="0"/>
          </a:p>
        </p:txBody>
      </p:sp>
      <p:sp>
        <p:nvSpPr>
          <p:cNvPr id="9" name="Subtitle"/>
          <p:cNvSpPr txBox="1"/>
          <p:nvPr/>
        </p:nvSpPr>
        <p:spPr>
          <a:xfrm>
            <a:off x="820000" y="2050000"/>
            <a:ext cx="4700000" cy="12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GenAI Stack Foundations</a:t>
            </a:r>
            <a:endParaRPr lang="en-US" sz="1700" dirty="0"/>
          </a:p>
          <a:p>
            <a:pPr/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Session 1A</a:t>
            </a:r>
            <a:endParaRPr lang="en-US" sz="1700" dirty="0"/>
          </a:p>
          <a:p>
            <a:pPr/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What AI assistants do</a:t>
            </a:r>
            <a:endParaRPr lang="en-US" sz="1700" dirty="0"/>
          </a:p>
        </p:txBody>
      </p:sp>
      <p:sp>
        <p:nvSpPr>
          <p:cNvPr id="10" name="Note Cue"/>
          <p:cNvSpPr txBox="1"/>
          <p:nvPr/>
        </p:nvSpPr>
        <p:spPr>
          <a:xfrm>
            <a:off x="600000" y="3950000"/>
            <a:ext cx="380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Presenter note</a:t>
            </a:r>
            <a:endParaRPr lang="en-US" sz="1200" dirty="0"/>
          </a:p>
          <a:p>
            <a:pPr/>
            <a:r>
              <a:rPr lang="en-US" sz="11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Welcome learners and set a calm tone. Tell them this session is designed for beginners and focuses on practical use, not heavy theory.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ttom Bar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8624000" y="4943500"/>
            <a:ext cx="26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1100" dirty="0"/>
          </a:p>
        </p:txBody>
      </p:sp>
      <p:sp>
        <p:nvSpPr>
          <p:cNvPr id="5" name="Hero Circle"/>
          <p:cNvSpPr/>
          <p:nvPr/>
        </p:nvSpPr>
        <p:spPr>
          <a:xfrm>
            <a:off x="6500000" y="850000"/>
            <a:ext cx="1700000" cy="1700000"/>
          </a:xfrm>
          <a:prstGeom prst="ellipse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6" name="Hero Dot"/>
          <p:cNvSpPr/>
          <p:nvPr/>
        </p:nvSpPr>
        <p:spPr>
          <a:xfrm>
            <a:off x="7250000" y="1250000"/>
            <a:ext cx="280000" cy="28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Accent Line"/>
          <p:cNvCxnSpPr/>
          <p:nvPr/>
        </p:nvCxnSpPr>
        <p:spPr>
          <a:xfrm>
            <a:off x="900000" y="1780000"/>
            <a:ext cx="2100000" cy="0"/>
          </a:xfrm>
          <a:prstGeom prst="line">
            <a:avLst/>
          </a:prstGeom>
          <a:ln w="19050">
            <a:solidFill>
              <a:srgbClr val="FF9900"/>
            </a:solidFill>
          </a:ln>
        </p:spPr>
      </p:cxnSp>
      <p:sp>
        <p:nvSpPr>
          <p:cNvPr id="8" name="Title"/>
          <p:cNvSpPr txBox="1"/>
          <p:nvPr/>
        </p:nvSpPr>
        <p:spPr>
          <a:xfrm>
            <a:off x="800000" y="1050000"/>
            <a:ext cx="5400000" cy="9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26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Session 1 | GenAI Foundations</a:t>
            </a:r>
            <a:endParaRPr lang="en-US" sz="2600" dirty="0"/>
          </a:p>
        </p:txBody>
      </p:sp>
      <p:sp>
        <p:nvSpPr>
          <p:cNvPr id="9" name="Subtitle"/>
          <p:cNvSpPr txBox="1"/>
          <p:nvPr/>
        </p:nvSpPr>
        <p:spPr>
          <a:xfrm>
            <a:off x="820000" y="2050000"/>
            <a:ext cx="4700000" cy="12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Useful tasks</a:t>
            </a:r>
            <a:endParaRPr lang="en-US" sz="1700" dirty="0"/>
          </a:p>
          <a:p>
            <a:pPr/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Assistant basics</a:t>
            </a:r>
            <a:endParaRPr lang="en-US" sz="1700" dirty="0"/>
          </a:p>
          <a:p>
            <a:pPr/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Tool fit</a:t>
            </a:r>
            <a:endParaRPr lang="en-US" sz="1700" dirty="0"/>
          </a:p>
          <a:p>
            <a:pPr/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Better prompts</a:t>
            </a:r>
            <a:endParaRPr lang="en-US" sz="1700" dirty="0"/>
          </a:p>
        </p:txBody>
      </p:sp>
      <p:sp>
        <p:nvSpPr>
          <p:cNvPr id="10" name="Note Cue"/>
          <p:cNvSpPr txBox="1"/>
          <p:nvPr/>
        </p:nvSpPr>
        <p:spPr>
          <a:xfrm>
            <a:off x="600000" y="3950000"/>
            <a:ext cx="380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Presenter note</a:t>
            </a:r>
            <a:endParaRPr lang="en-US" sz="1200" dirty="0"/>
          </a:p>
          <a:p>
            <a:pPr/>
            <a:r>
              <a:rPr lang="en-US" sz="11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Introduce the session title clearly. Frame this as the first chunk in the learner's GenAI journey.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ttom Bar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8624000" y="4943500"/>
            <a:ext cx="26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600000" y="420000"/>
            <a:ext cx="5200000" cy="6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2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Agenda</a:t>
            </a:r>
            <a:endParaRPr lang="en-US" sz="2200" dirty="0"/>
          </a:p>
        </p:txBody>
      </p:sp>
      <p:cxnSp>
        <p:nvCxnSpPr>
          <p:cNvPr id="6" name="Divider"/>
          <p:cNvCxnSpPr/>
          <p:nvPr/>
        </p:nvCxnSpPr>
        <p:spPr>
          <a:xfrm>
            <a:off x="600000" y="1100000"/>
            <a:ext cx="1900000" cy="0"/>
          </a:xfrm>
          <a:prstGeom prst="line">
            <a:avLst/>
          </a:prstGeom>
          <a:ln w="19050">
            <a:solidFill>
              <a:srgbClr val="FF9900"/>
            </a:solidFill>
          </a:ln>
        </p:spPr>
      </p:cxnSp>
      <p:sp>
        <p:nvSpPr>
          <p:cNvPr id="7" name="Bullets"/>
          <p:cNvSpPr txBox="1"/>
          <p:nvPr/>
        </p:nvSpPr>
        <p:spPr>
          <a:xfrm>
            <a:off x="650000" y="1350000"/>
            <a:ext cx="4300000" cy="24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Why this feels useful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What assistants do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How tools differ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How context helps</a:t>
            </a:r>
            <a:endParaRPr lang="en-US" sz="1700" dirty="0"/>
          </a:p>
        </p:txBody>
      </p:sp>
      <p:sp>
        <p:nvSpPr>
          <p:cNvPr id="8" name="Card 1"/>
          <p:cNvSpPr/>
          <p:nvPr/>
        </p:nvSpPr>
        <p:spPr>
          <a:xfrm>
            <a:off x="62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9" name="Accent 1"/>
          <p:cNvSpPr/>
          <p:nvPr/>
        </p:nvSpPr>
        <p:spPr>
          <a:xfrm>
            <a:off x="74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ard Text 1"/>
          <p:cNvSpPr txBox="1"/>
          <p:nvPr/>
        </p:nvSpPr>
        <p:spPr>
          <a:xfrm>
            <a:off x="80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Why this feels useful</a:t>
            </a:r>
            <a:endParaRPr lang="en-US" sz="1700" dirty="0"/>
          </a:p>
        </p:txBody>
      </p:sp>
      <p:sp>
        <p:nvSpPr>
          <p:cNvPr id="11" name="Card 2"/>
          <p:cNvSpPr/>
          <p:nvPr/>
        </p:nvSpPr>
        <p:spPr>
          <a:xfrm>
            <a:off x="264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2" name="Accent 2"/>
          <p:cNvSpPr/>
          <p:nvPr/>
        </p:nvSpPr>
        <p:spPr>
          <a:xfrm>
            <a:off x="276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ard Text 2"/>
          <p:cNvSpPr txBox="1"/>
          <p:nvPr/>
        </p:nvSpPr>
        <p:spPr>
          <a:xfrm>
            <a:off x="282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What assistants do</a:t>
            </a:r>
            <a:endParaRPr lang="en-US" sz="1700" dirty="0"/>
          </a:p>
        </p:txBody>
      </p:sp>
      <p:sp>
        <p:nvSpPr>
          <p:cNvPr id="14" name="Card 3"/>
          <p:cNvSpPr/>
          <p:nvPr/>
        </p:nvSpPr>
        <p:spPr>
          <a:xfrm>
            <a:off x="466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5" name="Accent 3"/>
          <p:cNvSpPr/>
          <p:nvPr/>
        </p:nvSpPr>
        <p:spPr>
          <a:xfrm>
            <a:off x="478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Card Text 3"/>
          <p:cNvSpPr txBox="1"/>
          <p:nvPr/>
        </p:nvSpPr>
        <p:spPr>
          <a:xfrm>
            <a:off x="484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How tools differ</a:t>
            </a:r>
            <a:endParaRPr lang="en-US" sz="1700" dirty="0"/>
          </a:p>
        </p:txBody>
      </p:sp>
      <p:sp>
        <p:nvSpPr>
          <p:cNvPr id="17" name="Card 4"/>
          <p:cNvSpPr/>
          <p:nvPr/>
        </p:nvSpPr>
        <p:spPr>
          <a:xfrm>
            <a:off x="668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8" name="Accent 4"/>
          <p:cNvSpPr/>
          <p:nvPr/>
        </p:nvSpPr>
        <p:spPr>
          <a:xfrm>
            <a:off x="680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Card Text 4"/>
          <p:cNvSpPr txBox="1"/>
          <p:nvPr/>
        </p:nvSpPr>
        <p:spPr>
          <a:xfrm>
            <a:off x="686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How context helps</a:t>
            </a:r>
            <a:endParaRPr lang="en-US" sz="1700" dirty="0"/>
          </a:p>
        </p:txBody>
      </p:sp>
      <p:sp>
        <p:nvSpPr>
          <p:cNvPr id="20" name="Note Cue"/>
          <p:cNvSpPr txBox="1"/>
          <p:nvPr/>
        </p:nvSpPr>
        <p:spPr>
          <a:xfrm>
            <a:off x="600000" y="3950000"/>
            <a:ext cx="380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Presenter note</a:t>
            </a:r>
            <a:endParaRPr lang="en-US" sz="1200" dirty="0"/>
          </a:p>
          <a:p>
            <a:pPr/>
            <a:r>
              <a:rPr lang="en-US" sz="11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Walk through the four parts of the session.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ttom Bar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8624000" y="4943500"/>
            <a:ext cx="26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600000" y="420000"/>
            <a:ext cx="5200000" cy="6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2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Work Feels Faster</a:t>
            </a:r>
            <a:endParaRPr lang="en-US" sz="2200" dirty="0"/>
          </a:p>
        </p:txBody>
      </p:sp>
      <p:cxnSp>
        <p:nvCxnSpPr>
          <p:cNvPr id="6" name="Divider"/>
          <p:cNvCxnSpPr/>
          <p:nvPr/>
        </p:nvCxnSpPr>
        <p:spPr>
          <a:xfrm>
            <a:off x="600000" y="1100000"/>
            <a:ext cx="1900000" cy="0"/>
          </a:xfrm>
          <a:prstGeom prst="line">
            <a:avLst/>
          </a:prstGeom>
          <a:ln w="19050">
            <a:solidFill>
              <a:srgbClr val="FF9900"/>
            </a:solidFill>
          </a:ln>
        </p:spPr>
      </p:cxnSp>
      <p:sp>
        <p:nvSpPr>
          <p:cNvPr id="7" name="Bullets"/>
          <p:cNvSpPr txBox="1"/>
          <p:nvPr/>
        </p:nvSpPr>
        <p:spPr>
          <a:xfrm>
            <a:off x="650000" y="1350000"/>
            <a:ext cx="4300000" cy="24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Draft emails quickly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Summarize messy notes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Start from rough ideas</a:t>
            </a:r>
            <a:endParaRPr lang="en-US" sz="1700" dirty="0"/>
          </a:p>
        </p:txBody>
      </p:sp>
      <p:sp>
        <p:nvSpPr>
          <p:cNvPr id="8" name="Card 1"/>
          <p:cNvSpPr/>
          <p:nvPr/>
        </p:nvSpPr>
        <p:spPr>
          <a:xfrm>
            <a:off x="62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9" name="Accent 1"/>
          <p:cNvSpPr/>
          <p:nvPr/>
        </p:nvSpPr>
        <p:spPr>
          <a:xfrm>
            <a:off x="74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ard Text 1"/>
          <p:cNvSpPr txBox="1"/>
          <p:nvPr/>
        </p:nvSpPr>
        <p:spPr>
          <a:xfrm>
            <a:off x="80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Draft emails quickly</a:t>
            </a:r>
            <a:endParaRPr lang="en-US" sz="1700" dirty="0"/>
          </a:p>
        </p:txBody>
      </p:sp>
      <p:sp>
        <p:nvSpPr>
          <p:cNvPr id="11" name="Card 2"/>
          <p:cNvSpPr/>
          <p:nvPr/>
        </p:nvSpPr>
        <p:spPr>
          <a:xfrm>
            <a:off x="264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2" name="Accent 2"/>
          <p:cNvSpPr/>
          <p:nvPr/>
        </p:nvSpPr>
        <p:spPr>
          <a:xfrm>
            <a:off x="276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ard Text 2"/>
          <p:cNvSpPr txBox="1"/>
          <p:nvPr/>
        </p:nvSpPr>
        <p:spPr>
          <a:xfrm>
            <a:off x="282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Summarize messy notes</a:t>
            </a:r>
            <a:endParaRPr lang="en-US" sz="1700" dirty="0"/>
          </a:p>
        </p:txBody>
      </p:sp>
      <p:sp>
        <p:nvSpPr>
          <p:cNvPr id="14" name="Card 3"/>
          <p:cNvSpPr/>
          <p:nvPr/>
        </p:nvSpPr>
        <p:spPr>
          <a:xfrm>
            <a:off x="466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5" name="Accent 3"/>
          <p:cNvSpPr/>
          <p:nvPr/>
        </p:nvSpPr>
        <p:spPr>
          <a:xfrm>
            <a:off x="478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Card Text 3"/>
          <p:cNvSpPr txBox="1"/>
          <p:nvPr/>
        </p:nvSpPr>
        <p:spPr>
          <a:xfrm>
            <a:off x="484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Start from rough ideas</a:t>
            </a:r>
            <a:endParaRPr lang="en-US" sz="1700" dirty="0"/>
          </a:p>
        </p:txBody>
      </p:sp>
      <p:sp>
        <p:nvSpPr>
          <p:cNvPr id="17" name="Note Cue"/>
          <p:cNvSpPr txBox="1"/>
          <p:nvPr/>
        </p:nvSpPr>
        <p:spPr>
          <a:xfrm>
            <a:off x="600000" y="3950000"/>
            <a:ext cx="380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Presenter note</a:t>
            </a:r>
            <a:endParaRPr lang="en-US" sz="1200" dirty="0"/>
          </a:p>
          <a:p>
            <a:pPr/>
            <a:r>
              <a:rPr lang="en-US" sz="11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Open with familiar work tasks.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ttom Bar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8624000" y="4943500"/>
            <a:ext cx="26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600000" y="420000"/>
            <a:ext cx="5200000" cy="6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2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Why It Feels Helpful</a:t>
            </a:r>
            <a:endParaRPr lang="en-US" sz="2200" dirty="0"/>
          </a:p>
        </p:txBody>
      </p:sp>
      <p:cxnSp>
        <p:nvCxnSpPr>
          <p:cNvPr id="6" name="Divider"/>
          <p:cNvCxnSpPr/>
          <p:nvPr/>
        </p:nvCxnSpPr>
        <p:spPr>
          <a:xfrm>
            <a:off x="600000" y="1100000"/>
            <a:ext cx="1900000" cy="0"/>
          </a:xfrm>
          <a:prstGeom prst="line">
            <a:avLst/>
          </a:prstGeom>
          <a:ln w="19050">
            <a:solidFill>
              <a:srgbClr val="FF9900"/>
            </a:solidFill>
          </a:ln>
        </p:spPr>
      </p:cxnSp>
      <p:sp>
        <p:nvSpPr>
          <p:cNvPr id="7" name="Bullets"/>
          <p:cNvSpPr txBox="1"/>
          <p:nvPr/>
        </p:nvSpPr>
        <p:spPr>
          <a:xfrm>
            <a:off x="650000" y="1350000"/>
            <a:ext cx="4300000" cy="24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Faster first drafts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Better structure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Less blank-page stress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More iteration speed</a:t>
            </a:r>
            <a:endParaRPr lang="en-US" sz="1700" dirty="0"/>
          </a:p>
        </p:txBody>
      </p:sp>
      <p:sp>
        <p:nvSpPr>
          <p:cNvPr id="8" name="Card 1"/>
          <p:cNvSpPr/>
          <p:nvPr/>
        </p:nvSpPr>
        <p:spPr>
          <a:xfrm>
            <a:off x="62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9" name="Accent 1"/>
          <p:cNvSpPr/>
          <p:nvPr/>
        </p:nvSpPr>
        <p:spPr>
          <a:xfrm>
            <a:off x="74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ard Text 1"/>
          <p:cNvSpPr txBox="1"/>
          <p:nvPr/>
        </p:nvSpPr>
        <p:spPr>
          <a:xfrm>
            <a:off x="80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Faster first drafts</a:t>
            </a:r>
            <a:endParaRPr lang="en-US" sz="1700" dirty="0"/>
          </a:p>
        </p:txBody>
      </p:sp>
      <p:sp>
        <p:nvSpPr>
          <p:cNvPr id="11" name="Card 2"/>
          <p:cNvSpPr/>
          <p:nvPr/>
        </p:nvSpPr>
        <p:spPr>
          <a:xfrm>
            <a:off x="264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2" name="Accent 2"/>
          <p:cNvSpPr/>
          <p:nvPr/>
        </p:nvSpPr>
        <p:spPr>
          <a:xfrm>
            <a:off x="276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ard Text 2"/>
          <p:cNvSpPr txBox="1"/>
          <p:nvPr/>
        </p:nvSpPr>
        <p:spPr>
          <a:xfrm>
            <a:off x="282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Better structure</a:t>
            </a:r>
            <a:endParaRPr lang="en-US" sz="1700" dirty="0"/>
          </a:p>
        </p:txBody>
      </p:sp>
      <p:sp>
        <p:nvSpPr>
          <p:cNvPr id="14" name="Card 3"/>
          <p:cNvSpPr/>
          <p:nvPr/>
        </p:nvSpPr>
        <p:spPr>
          <a:xfrm>
            <a:off x="466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5" name="Accent 3"/>
          <p:cNvSpPr/>
          <p:nvPr/>
        </p:nvSpPr>
        <p:spPr>
          <a:xfrm>
            <a:off x="478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Card Text 3"/>
          <p:cNvSpPr txBox="1"/>
          <p:nvPr/>
        </p:nvSpPr>
        <p:spPr>
          <a:xfrm>
            <a:off x="484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Less blank-page stress</a:t>
            </a:r>
            <a:endParaRPr lang="en-US" sz="1700" dirty="0"/>
          </a:p>
        </p:txBody>
      </p:sp>
      <p:sp>
        <p:nvSpPr>
          <p:cNvPr id="17" name="Card 4"/>
          <p:cNvSpPr/>
          <p:nvPr/>
        </p:nvSpPr>
        <p:spPr>
          <a:xfrm>
            <a:off x="668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8" name="Accent 4"/>
          <p:cNvSpPr/>
          <p:nvPr/>
        </p:nvSpPr>
        <p:spPr>
          <a:xfrm>
            <a:off x="680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Card Text 4"/>
          <p:cNvSpPr txBox="1"/>
          <p:nvPr/>
        </p:nvSpPr>
        <p:spPr>
          <a:xfrm>
            <a:off x="686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More iteration speed</a:t>
            </a:r>
            <a:endParaRPr lang="en-US" sz="1700" dirty="0"/>
          </a:p>
        </p:txBody>
      </p:sp>
      <p:sp>
        <p:nvSpPr>
          <p:cNvPr id="20" name="Note Cue"/>
          <p:cNvSpPr txBox="1"/>
          <p:nvPr/>
        </p:nvSpPr>
        <p:spPr>
          <a:xfrm>
            <a:off x="600000" y="3950000"/>
            <a:ext cx="380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Presenter note</a:t>
            </a:r>
            <a:endParaRPr lang="en-US" sz="1200" dirty="0"/>
          </a:p>
          <a:p>
            <a:pPr/>
            <a:r>
              <a:rPr lang="en-US" sz="11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Explain that GenAI is valuable early because it provides speed, structure, and momentum.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ttom Bar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8624000" y="4943500"/>
            <a:ext cx="26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6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600000" y="420000"/>
            <a:ext cx="5200000" cy="6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2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Example: Meeting Notes</a:t>
            </a:r>
            <a:endParaRPr lang="en-US" sz="2200" dirty="0"/>
          </a:p>
        </p:txBody>
      </p:sp>
      <p:cxnSp>
        <p:nvCxnSpPr>
          <p:cNvPr id="6" name="Divider"/>
          <p:cNvCxnSpPr/>
          <p:nvPr/>
        </p:nvCxnSpPr>
        <p:spPr>
          <a:xfrm>
            <a:off x="600000" y="1100000"/>
            <a:ext cx="1900000" cy="0"/>
          </a:xfrm>
          <a:prstGeom prst="line">
            <a:avLst/>
          </a:prstGeom>
          <a:ln w="19050">
            <a:solidFill>
              <a:srgbClr val="FF9900"/>
            </a:solidFill>
          </a:ln>
        </p:spPr>
      </p:cxnSp>
      <p:sp>
        <p:nvSpPr>
          <p:cNvPr id="7" name="Bullets"/>
          <p:cNvSpPr txBox="1"/>
          <p:nvPr/>
        </p:nvSpPr>
        <p:spPr>
          <a:xfrm>
            <a:off x="640000" y="1350000"/>
            <a:ext cx="3500000" cy="24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Messy notes in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Action items out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Still review carefully</a:t>
            </a:r>
            <a:endParaRPr lang="en-US" sz="1700" dirty="0"/>
          </a:p>
        </p:txBody>
      </p:sp>
      <p:sp>
        <p:nvSpPr>
          <p:cNvPr id="8" name="Visual Panel"/>
          <p:cNvSpPr/>
          <p:nvPr/>
        </p:nvSpPr>
        <p:spPr>
          <a:xfrm>
            <a:off x="4780000" y="1280000"/>
            <a:ext cx="3300000" cy="215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9" name="Visual Accent"/>
          <p:cNvSpPr/>
          <p:nvPr/>
        </p:nvSpPr>
        <p:spPr>
          <a:xfrm>
            <a:off x="5050000" y="1540000"/>
            <a:ext cx="340000" cy="34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anel Text"/>
          <p:cNvSpPr txBox="1"/>
          <p:nvPr/>
        </p:nvSpPr>
        <p:spPr>
          <a:xfrm>
            <a:off x="5000000" y="1950000"/>
            <a:ext cx="285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Visual placeholder</a:t>
            </a:r>
            <a:endParaRPr lang="en-US" sz="1800" dirty="0"/>
          </a:p>
          <a:p>
            <a:pPr algn="ctr"/>
            <a:r>
              <a:rPr lang="en-US" sz="13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Designer can replace this with a screenshot, comparison table, or diagram</a:t>
            </a:r>
            <a:endParaRPr lang="en-US" sz="1300" dirty="0"/>
          </a:p>
        </p:txBody>
      </p:sp>
      <p:sp>
        <p:nvSpPr>
          <p:cNvPr id="11" name="Note Cue"/>
          <p:cNvSpPr txBox="1"/>
          <p:nvPr/>
        </p:nvSpPr>
        <p:spPr>
          <a:xfrm>
            <a:off x="600000" y="3950000"/>
            <a:ext cx="380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Presenter note</a:t>
            </a:r>
            <a:endParaRPr lang="en-US" sz="1200" dirty="0"/>
          </a:p>
          <a:p>
            <a:pPr/>
            <a:r>
              <a:rPr lang="en-US" sz="11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Show a concrete workplace example.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ttom Bar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8624000" y="4943500"/>
            <a:ext cx="26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7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600000" y="420000"/>
            <a:ext cx="5200000" cy="6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2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Useful Is Not Final</a:t>
            </a:r>
            <a:endParaRPr lang="en-US" sz="2200" dirty="0"/>
          </a:p>
        </p:txBody>
      </p:sp>
      <p:cxnSp>
        <p:nvCxnSpPr>
          <p:cNvPr id="6" name="Divider"/>
          <p:cNvCxnSpPr/>
          <p:nvPr/>
        </p:nvCxnSpPr>
        <p:spPr>
          <a:xfrm>
            <a:off x="600000" y="1100000"/>
            <a:ext cx="1900000" cy="0"/>
          </a:xfrm>
          <a:prstGeom prst="line">
            <a:avLst/>
          </a:prstGeom>
          <a:ln w="19050">
            <a:solidFill>
              <a:srgbClr val="FF9900"/>
            </a:solidFill>
          </a:ln>
        </p:spPr>
      </p:cxnSp>
      <p:sp>
        <p:nvSpPr>
          <p:cNvPr id="7" name="Bullets"/>
          <p:cNvSpPr txBox="1"/>
          <p:nvPr/>
        </p:nvSpPr>
        <p:spPr>
          <a:xfrm>
            <a:off x="650000" y="1350000"/>
            <a:ext cx="4300000" cy="24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Helpful first draft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Not final judgment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Human review matters</a:t>
            </a:r>
            <a:endParaRPr lang="en-US" sz="1700" dirty="0"/>
          </a:p>
        </p:txBody>
      </p:sp>
      <p:sp>
        <p:nvSpPr>
          <p:cNvPr id="8" name="Card 1"/>
          <p:cNvSpPr/>
          <p:nvPr/>
        </p:nvSpPr>
        <p:spPr>
          <a:xfrm>
            <a:off x="62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9" name="Accent 1"/>
          <p:cNvSpPr/>
          <p:nvPr/>
        </p:nvSpPr>
        <p:spPr>
          <a:xfrm>
            <a:off x="74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ard Text 1"/>
          <p:cNvSpPr txBox="1"/>
          <p:nvPr/>
        </p:nvSpPr>
        <p:spPr>
          <a:xfrm>
            <a:off x="80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Helpful first draft</a:t>
            </a:r>
            <a:endParaRPr lang="en-US" sz="1700" dirty="0"/>
          </a:p>
        </p:txBody>
      </p:sp>
      <p:sp>
        <p:nvSpPr>
          <p:cNvPr id="11" name="Card 2"/>
          <p:cNvSpPr/>
          <p:nvPr/>
        </p:nvSpPr>
        <p:spPr>
          <a:xfrm>
            <a:off x="264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2" name="Accent 2"/>
          <p:cNvSpPr/>
          <p:nvPr/>
        </p:nvSpPr>
        <p:spPr>
          <a:xfrm>
            <a:off x="276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ard Text 2"/>
          <p:cNvSpPr txBox="1"/>
          <p:nvPr/>
        </p:nvSpPr>
        <p:spPr>
          <a:xfrm>
            <a:off x="282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Not final judgment</a:t>
            </a:r>
            <a:endParaRPr lang="en-US" sz="1700" dirty="0"/>
          </a:p>
        </p:txBody>
      </p:sp>
      <p:sp>
        <p:nvSpPr>
          <p:cNvPr id="14" name="Card 3"/>
          <p:cNvSpPr/>
          <p:nvPr/>
        </p:nvSpPr>
        <p:spPr>
          <a:xfrm>
            <a:off x="466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5" name="Accent 3"/>
          <p:cNvSpPr/>
          <p:nvPr/>
        </p:nvSpPr>
        <p:spPr>
          <a:xfrm>
            <a:off x="478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Card Text 3"/>
          <p:cNvSpPr txBox="1"/>
          <p:nvPr/>
        </p:nvSpPr>
        <p:spPr>
          <a:xfrm>
            <a:off x="484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Human review matters</a:t>
            </a:r>
            <a:endParaRPr lang="en-US" sz="1700" dirty="0"/>
          </a:p>
        </p:txBody>
      </p:sp>
      <p:sp>
        <p:nvSpPr>
          <p:cNvPr id="17" name="Note Cue"/>
          <p:cNvSpPr txBox="1"/>
          <p:nvPr/>
        </p:nvSpPr>
        <p:spPr>
          <a:xfrm>
            <a:off x="600000" y="3950000"/>
            <a:ext cx="380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Presenter note</a:t>
            </a:r>
            <a:endParaRPr lang="en-US" sz="1200" dirty="0"/>
          </a:p>
          <a:p>
            <a:pPr/>
            <a:r>
              <a:rPr lang="en-US" sz="11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Correct the first key misconception directly.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ttom Bar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8624000" y="4943500"/>
            <a:ext cx="26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8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600000" y="420000"/>
            <a:ext cx="5200000" cy="6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2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Assistant, Not Oracle</a:t>
            </a:r>
            <a:endParaRPr lang="en-US" sz="2200" dirty="0"/>
          </a:p>
        </p:txBody>
      </p:sp>
      <p:cxnSp>
        <p:nvCxnSpPr>
          <p:cNvPr id="6" name="Divider"/>
          <p:cNvCxnSpPr/>
          <p:nvPr/>
        </p:nvCxnSpPr>
        <p:spPr>
          <a:xfrm>
            <a:off x="600000" y="1100000"/>
            <a:ext cx="1900000" cy="0"/>
          </a:xfrm>
          <a:prstGeom prst="line">
            <a:avLst/>
          </a:prstGeom>
          <a:ln w="19050">
            <a:solidFill>
              <a:srgbClr val="FF9900"/>
            </a:solidFill>
          </a:ln>
        </p:spPr>
      </p:cxnSp>
      <p:sp>
        <p:nvSpPr>
          <p:cNvPr id="7" name="Bullets"/>
          <p:cNvSpPr txBox="1"/>
          <p:nvPr/>
        </p:nvSpPr>
        <p:spPr>
          <a:xfrm>
            <a:off x="640000" y="1350000"/>
            <a:ext cx="3500000" cy="24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Fast junior collaborator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Good with drafts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Needs clear direction</a:t>
            </a:r>
            <a:endParaRPr lang="en-US" sz="1700" dirty="0"/>
          </a:p>
        </p:txBody>
      </p:sp>
      <p:sp>
        <p:nvSpPr>
          <p:cNvPr id="8" name="Visual Panel"/>
          <p:cNvSpPr/>
          <p:nvPr/>
        </p:nvSpPr>
        <p:spPr>
          <a:xfrm>
            <a:off x="4780000" y="1280000"/>
            <a:ext cx="3300000" cy="215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9" name="Visual Accent"/>
          <p:cNvSpPr/>
          <p:nvPr/>
        </p:nvSpPr>
        <p:spPr>
          <a:xfrm>
            <a:off x="5050000" y="1540000"/>
            <a:ext cx="340000" cy="34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anel Text"/>
          <p:cNvSpPr txBox="1"/>
          <p:nvPr/>
        </p:nvSpPr>
        <p:spPr>
          <a:xfrm>
            <a:off x="5000000" y="1950000"/>
            <a:ext cx="285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Visual placeholder</a:t>
            </a:r>
            <a:endParaRPr lang="en-US" sz="1800" dirty="0"/>
          </a:p>
          <a:p>
            <a:pPr algn="ctr"/>
            <a:r>
              <a:rPr lang="en-US" sz="13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Designer can replace this with a screenshot, comparison table, or diagram</a:t>
            </a:r>
            <a:endParaRPr lang="en-US" sz="1300" dirty="0"/>
          </a:p>
        </p:txBody>
      </p:sp>
      <p:sp>
        <p:nvSpPr>
          <p:cNvPr id="11" name="Note Cue"/>
          <p:cNvSpPr txBox="1"/>
          <p:nvPr/>
        </p:nvSpPr>
        <p:spPr>
          <a:xfrm>
            <a:off x="600000" y="3950000"/>
            <a:ext cx="380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Presenter note</a:t>
            </a:r>
            <a:endParaRPr lang="en-US" sz="1200" dirty="0"/>
          </a:p>
          <a:p>
            <a:pPr/>
            <a:r>
              <a:rPr lang="en-US" sz="11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Introduce the analogy before the definition.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ttom Bar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8624000" y="4943500"/>
            <a:ext cx="26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9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600000" y="420000"/>
            <a:ext cx="5200000" cy="6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2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What Is An LLM?</a:t>
            </a:r>
            <a:endParaRPr lang="en-US" sz="2200" dirty="0"/>
          </a:p>
        </p:txBody>
      </p:sp>
      <p:cxnSp>
        <p:nvCxnSpPr>
          <p:cNvPr id="6" name="Divider"/>
          <p:cNvCxnSpPr/>
          <p:nvPr/>
        </p:nvCxnSpPr>
        <p:spPr>
          <a:xfrm>
            <a:off x="600000" y="1100000"/>
            <a:ext cx="1900000" cy="0"/>
          </a:xfrm>
          <a:prstGeom prst="line">
            <a:avLst/>
          </a:prstGeom>
          <a:ln w="19050">
            <a:solidFill>
              <a:srgbClr val="FF9900"/>
            </a:solidFill>
          </a:ln>
        </p:spPr>
      </p:cxnSp>
      <p:sp>
        <p:nvSpPr>
          <p:cNvPr id="7" name="Bullets"/>
          <p:cNvSpPr txBox="1"/>
          <p:nvPr/>
        </p:nvSpPr>
        <p:spPr>
          <a:xfrm>
            <a:off x="650000" y="1350000"/>
            <a:ext cx="4300000" cy="24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Large language model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Learns from text patterns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Generates likely responses</a:t>
            </a:r>
            <a:endParaRPr lang="en-US" sz="1700" dirty="0"/>
          </a:p>
        </p:txBody>
      </p:sp>
      <p:sp>
        <p:nvSpPr>
          <p:cNvPr id="8" name="Card 1"/>
          <p:cNvSpPr/>
          <p:nvPr/>
        </p:nvSpPr>
        <p:spPr>
          <a:xfrm>
            <a:off x="62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9" name="Accent 1"/>
          <p:cNvSpPr/>
          <p:nvPr/>
        </p:nvSpPr>
        <p:spPr>
          <a:xfrm>
            <a:off x="74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ard Text 1"/>
          <p:cNvSpPr txBox="1"/>
          <p:nvPr/>
        </p:nvSpPr>
        <p:spPr>
          <a:xfrm>
            <a:off x="80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Large language model</a:t>
            </a:r>
            <a:endParaRPr lang="en-US" sz="1700" dirty="0"/>
          </a:p>
        </p:txBody>
      </p:sp>
      <p:sp>
        <p:nvSpPr>
          <p:cNvPr id="11" name="Card 2"/>
          <p:cNvSpPr/>
          <p:nvPr/>
        </p:nvSpPr>
        <p:spPr>
          <a:xfrm>
            <a:off x="264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2" name="Accent 2"/>
          <p:cNvSpPr/>
          <p:nvPr/>
        </p:nvSpPr>
        <p:spPr>
          <a:xfrm>
            <a:off x="276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ard Text 2"/>
          <p:cNvSpPr txBox="1"/>
          <p:nvPr/>
        </p:nvSpPr>
        <p:spPr>
          <a:xfrm>
            <a:off x="282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Learns from text patterns</a:t>
            </a:r>
            <a:endParaRPr lang="en-US" sz="1700" dirty="0"/>
          </a:p>
        </p:txBody>
      </p:sp>
      <p:sp>
        <p:nvSpPr>
          <p:cNvPr id="14" name="Card 3"/>
          <p:cNvSpPr/>
          <p:nvPr/>
        </p:nvSpPr>
        <p:spPr>
          <a:xfrm>
            <a:off x="466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5" name="Accent 3"/>
          <p:cNvSpPr/>
          <p:nvPr/>
        </p:nvSpPr>
        <p:spPr>
          <a:xfrm>
            <a:off x="478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Card Text 3"/>
          <p:cNvSpPr txBox="1"/>
          <p:nvPr/>
        </p:nvSpPr>
        <p:spPr>
          <a:xfrm>
            <a:off x="484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Generates likely responses</a:t>
            </a:r>
            <a:endParaRPr lang="en-US" sz="1700" dirty="0"/>
          </a:p>
        </p:txBody>
      </p:sp>
      <p:sp>
        <p:nvSpPr>
          <p:cNvPr id="17" name="Note Cue"/>
          <p:cNvSpPr txBox="1"/>
          <p:nvPr/>
        </p:nvSpPr>
        <p:spPr>
          <a:xfrm>
            <a:off x="600000" y="3950000"/>
            <a:ext cx="380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Presenter note</a:t>
            </a:r>
            <a:endParaRPr lang="en-US" sz="1200" dirty="0"/>
          </a:p>
          <a:p>
            <a:pPr/>
            <a:r>
              <a:rPr lang="en-US" sz="11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Define LLM in plain language.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ttom Bar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8624000" y="4943500"/>
            <a:ext cx="26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600000" y="420000"/>
            <a:ext cx="5200000" cy="6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2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Prompt In, Response Out</a:t>
            </a:r>
            <a:endParaRPr lang="en-US" sz="2200" dirty="0"/>
          </a:p>
        </p:txBody>
      </p:sp>
      <p:cxnSp>
        <p:nvCxnSpPr>
          <p:cNvPr id="6" name="Divider"/>
          <p:cNvCxnSpPr/>
          <p:nvPr/>
        </p:nvCxnSpPr>
        <p:spPr>
          <a:xfrm>
            <a:off x="600000" y="1100000"/>
            <a:ext cx="1900000" cy="0"/>
          </a:xfrm>
          <a:prstGeom prst="line">
            <a:avLst/>
          </a:prstGeom>
          <a:ln w="19050">
            <a:solidFill>
              <a:srgbClr val="FF9900"/>
            </a:solidFill>
          </a:ln>
        </p:spPr>
      </p:cxnSp>
      <p:sp>
        <p:nvSpPr>
          <p:cNvPr id="7" name="Bullets"/>
          <p:cNvSpPr txBox="1"/>
          <p:nvPr/>
        </p:nvSpPr>
        <p:spPr>
          <a:xfrm>
            <a:off x="650000" y="1350000"/>
            <a:ext cx="4300000" cy="24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Prompt gives direction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Model generates draft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Quality depends on clarity</a:t>
            </a:r>
            <a:endParaRPr lang="en-US" sz="1700" dirty="0"/>
          </a:p>
        </p:txBody>
      </p:sp>
      <p:sp>
        <p:nvSpPr>
          <p:cNvPr id="8" name="Card 1"/>
          <p:cNvSpPr/>
          <p:nvPr/>
        </p:nvSpPr>
        <p:spPr>
          <a:xfrm>
            <a:off x="62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9" name="Accent 1"/>
          <p:cNvSpPr/>
          <p:nvPr/>
        </p:nvSpPr>
        <p:spPr>
          <a:xfrm>
            <a:off x="74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ard Text 1"/>
          <p:cNvSpPr txBox="1"/>
          <p:nvPr/>
        </p:nvSpPr>
        <p:spPr>
          <a:xfrm>
            <a:off x="80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Prompt gives direction</a:t>
            </a:r>
            <a:endParaRPr lang="en-US" sz="1700" dirty="0"/>
          </a:p>
        </p:txBody>
      </p:sp>
      <p:sp>
        <p:nvSpPr>
          <p:cNvPr id="11" name="Card 2"/>
          <p:cNvSpPr/>
          <p:nvPr/>
        </p:nvSpPr>
        <p:spPr>
          <a:xfrm>
            <a:off x="264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2" name="Accent 2"/>
          <p:cNvSpPr/>
          <p:nvPr/>
        </p:nvSpPr>
        <p:spPr>
          <a:xfrm>
            <a:off x="276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ard Text 2"/>
          <p:cNvSpPr txBox="1"/>
          <p:nvPr/>
        </p:nvSpPr>
        <p:spPr>
          <a:xfrm>
            <a:off x="282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Model generates draft</a:t>
            </a:r>
            <a:endParaRPr lang="en-US" sz="1700" dirty="0"/>
          </a:p>
        </p:txBody>
      </p:sp>
      <p:sp>
        <p:nvSpPr>
          <p:cNvPr id="14" name="Card 3"/>
          <p:cNvSpPr/>
          <p:nvPr/>
        </p:nvSpPr>
        <p:spPr>
          <a:xfrm>
            <a:off x="466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5" name="Accent 3"/>
          <p:cNvSpPr/>
          <p:nvPr/>
        </p:nvSpPr>
        <p:spPr>
          <a:xfrm>
            <a:off x="478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Card Text 3"/>
          <p:cNvSpPr txBox="1"/>
          <p:nvPr/>
        </p:nvSpPr>
        <p:spPr>
          <a:xfrm>
            <a:off x="484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Quality depends on clarity</a:t>
            </a:r>
            <a:endParaRPr lang="en-US" sz="1700" dirty="0"/>
          </a:p>
        </p:txBody>
      </p:sp>
      <p:sp>
        <p:nvSpPr>
          <p:cNvPr id="17" name="Note Cue"/>
          <p:cNvSpPr txBox="1"/>
          <p:nvPr/>
        </p:nvSpPr>
        <p:spPr>
          <a:xfrm>
            <a:off x="600000" y="3950000"/>
            <a:ext cx="380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Presenter note</a:t>
            </a:r>
            <a:endParaRPr lang="en-US" sz="1200" dirty="0"/>
          </a:p>
          <a:p>
            <a:pPr/>
            <a:r>
              <a:rPr lang="en-US" sz="11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Explain the role of the prompt.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ttom Bar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8624000" y="4943500"/>
            <a:ext cx="26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11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600000" y="420000"/>
            <a:ext cx="5200000" cy="6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2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Where Assistants Shine</a:t>
            </a:r>
            <a:endParaRPr lang="en-US" sz="2200" dirty="0"/>
          </a:p>
        </p:txBody>
      </p:sp>
      <p:cxnSp>
        <p:nvCxnSpPr>
          <p:cNvPr id="6" name="Divider"/>
          <p:cNvCxnSpPr/>
          <p:nvPr/>
        </p:nvCxnSpPr>
        <p:spPr>
          <a:xfrm>
            <a:off x="600000" y="1100000"/>
            <a:ext cx="1900000" cy="0"/>
          </a:xfrm>
          <a:prstGeom prst="line">
            <a:avLst/>
          </a:prstGeom>
          <a:ln w="19050">
            <a:solidFill>
              <a:srgbClr val="FF9900"/>
            </a:solidFill>
          </a:ln>
        </p:spPr>
      </p:cxnSp>
      <p:sp>
        <p:nvSpPr>
          <p:cNvPr id="7" name="Bullets"/>
          <p:cNvSpPr txBox="1"/>
          <p:nvPr/>
        </p:nvSpPr>
        <p:spPr>
          <a:xfrm>
            <a:off x="650000" y="1350000"/>
            <a:ext cx="4300000" cy="24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Drafting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Summarizing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Rewriting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Brainstorming</a:t>
            </a:r>
            <a:endParaRPr lang="en-US" sz="1700" dirty="0"/>
          </a:p>
        </p:txBody>
      </p:sp>
      <p:sp>
        <p:nvSpPr>
          <p:cNvPr id="8" name="Card 1"/>
          <p:cNvSpPr/>
          <p:nvPr/>
        </p:nvSpPr>
        <p:spPr>
          <a:xfrm>
            <a:off x="62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9" name="Accent 1"/>
          <p:cNvSpPr/>
          <p:nvPr/>
        </p:nvSpPr>
        <p:spPr>
          <a:xfrm>
            <a:off x="74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ard Text 1"/>
          <p:cNvSpPr txBox="1"/>
          <p:nvPr/>
        </p:nvSpPr>
        <p:spPr>
          <a:xfrm>
            <a:off x="80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Drafting</a:t>
            </a:r>
            <a:endParaRPr lang="en-US" sz="1700" dirty="0"/>
          </a:p>
        </p:txBody>
      </p:sp>
      <p:sp>
        <p:nvSpPr>
          <p:cNvPr id="11" name="Card 2"/>
          <p:cNvSpPr/>
          <p:nvPr/>
        </p:nvSpPr>
        <p:spPr>
          <a:xfrm>
            <a:off x="264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2" name="Accent 2"/>
          <p:cNvSpPr/>
          <p:nvPr/>
        </p:nvSpPr>
        <p:spPr>
          <a:xfrm>
            <a:off x="276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ard Text 2"/>
          <p:cNvSpPr txBox="1"/>
          <p:nvPr/>
        </p:nvSpPr>
        <p:spPr>
          <a:xfrm>
            <a:off x="282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Summarizing</a:t>
            </a:r>
            <a:endParaRPr lang="en-US" sz="1700" dirty="0"/>
          </a:p>
        </p:txBody>
      </p:sp>
      <p:sp>
        <p:nvSpPr>
          <p:cNvPr id="14" name="Card 3"/>
          <p:cNvSpPr/>
          <p:nvPr/>
        </p:nvSpPr>
        <p:spPr>
          <a:xfrm>
            <a:off x="466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5" name="Accent 3"/>
          <p:cNvSpPr/>
          <p:nvPr/>
        </p:nvSpPr>
        <p:spPr>
          <a:xfrm>
            <a:off x="478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Card Text 3"/>
          <p:cNvSpPr txBox="1"/>
          <p:nvPr/>
        </p:nvSpPr>
        <p:spPr>
          <a:xfrm>
            <a:off x="484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Rewriting</a:t>
            </a:r>
            <a:endParaRPr lang="en-US" sz="1700" dirty="0"/>
          </a:p>
        </p:txBody>
      </p:sp>
      <p:sp>
        <p:nvSpPr>
          <p:cNvPr id="17" name="Card 4"/>
          <p:cNvSpPr/>
          <p:nvPr/>
        </p:nvSpPr>
        <p:spPr>
          <a:xfrm>
            <a:off x="668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8" name="Accent 4"/>
          <p:cNvSpPr/>
          <p:nvPr/>
        </p:nvSpPr>
        <p:spPr>
          <a:xfrm>
            <a:off x="680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Card Text 4"/>
          <p:cNvSpPr txBox="1"/>
          <p:nvPr/>
        </p:nvSpPr>
        <p:spPr>
          <a:xfrm>
            <a:off x="686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Brainstorming</a:t>
            </a:r>
            <a:endParaRPr lang="en-US" sz="1700" dirty="0"/>
          </a:p>
        </p:txBody>
      </p:sp>
      <p:sp>
        <p:nvSpPr>
          <p:cNvPr id="20" name="Note Cue"/>
          <p:cNvSpPr txBox="1"/>
          <p:nvPr/>
        </p:nvSpPr>
        <p:spPr>
          <a:xfrm>
            <a:off x="600000" y="3950000"/>
            <a:ext cx="380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Presenter note</a:t>
            </a:r>
            <a:endParaRPr lang="en-US" sz="1200" dirty="0"/>
          </a:p>
          <a:p>
            <a:pPr/>
            <a:r>
              <a:rPr lang="en-US" sz="11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List the kinds of tasks where assistants tend to feel strong.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ttom Bar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8624000" y="4943500"/>
            <a:ext cx="26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12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600000" y="420000"/>
            <a:ext cx="5200000" cy="6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2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Where They Can Fail</a:t>
            </a:r>
            <a:endParaRPr lang="en-US" sz="2200" dirty="0"/>
          </a:p>
        </p:txBody>
      </p:sp>
      <p:cxnSp>
        <p:nvCxnSpPr>
          <p:cNvPr id="6" name="Divider"/>
          <p:cNvCxnSpPr/>
          <p:nvPr/>
        </p:nvCxnSpPr>
        <p:spPr>
          <a:xfrm>
            <a:off x="600000" y="1100000"/>
            <a:ext cx="1900000" cy="0"/>
          </a:xfrm>
          <a:prstGeom prst="line">
            <a:avLst/>
          </a:prstGeom>
          <a:ln w="19050">
            <a:solidFill>
              <a:srgbClr val="FF9900"/>
            </a:solidFill>
          </a:ln>
        </p:spPr>
      </p:cxnSp>
      <p:sp>
        <p:nvSpPr>
          <p:cNvPr id="7" name="Bullets"/>
          <p:cNvSpPr txBox="1"/>
          <p:nvPr/>
        </p:nvSpPr>
        <p:spPr>
          <a:xfrm>
            <a:off x="650000" y="1350000"/>
            <a:ext cx="4300000" cy="24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Can sound confident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Can still be wrong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May miss intent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Need review</a:t>
            </a:r>
            <a:endParaRPr lang="en-US" sz="1700" dirty="0"/>
          </a:p>
        </p:txBody>
      </p:sp>
      <p:sp>
        <p:nvSpPr>
          <p:cNvPr id="8" name="Card 1"/>
          <p:cNvSpPr/>
          <p:nvPr/>
        </p:nvSpPr>
        <p:spPr>
          <a:xfrm>
            <a:off x="62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9" name="Accent 1"/>
          <p:cNvSpPr/>
          <p:nvPr/>
        </p:nvSpPr>
        <p:spPr>
          <a:xfrm>
            <a:off x="74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ard Text 1"/>
          <p:cNvSpPr txBox="1"/>
          <p:nvPr/>
        </p:nvSpPr>
        <p:spPr>
          <a:xfrm>
            <a:off x="80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Can sound confident</a:t>
            </a:r>
            <a:endParaRPr lang="en-US" sz="1700" dirty="0"/>
          </a:p>
        </p:txBody>
      </p:sp>
      <p:sp>
        <p:nvSpPr>
          <p:cNvPr id="11" name="Card 2"/>
          <p:cNvSpPr/>
          <p:nvPr/>
        </p:nvSpPr>
        <p:spPr>
          <a:xfrm>
            <a:off x="264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2" name="Accent 2"/>
          <p:cNvSpPr/>
          <p:nvPr/>
        </p:nvSpPr>
        <p:spPr>
          <a:xfrm>
            <a:off x="276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ard Text 2"/>
          <p:cNvSpPr txBox="1"/>
          <p:nvPr/>
        </p:nvSpPr>
        <p:spPr>
          <a:xfrm>
            <a:off x="282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Can still be wrong</a:t>
            </a:r>
            <a:endParaRPr lang="en-US" sz="1700" dirty="0"/>
          </a:p>
        </p:txBody>
      </p:sp>
      <p:sp>
        <p:nvSpPr>
          <p:cNvPr id="14" name="Card 3"/>
          <p:cNvSpPr/>
          <p:nvPr/>
        </p:nvSpPr>
        <p:spPr>
          <a:xfrm>
            <a:off x="466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5" name="Accent 3"/>
          <p:cNvSpPr/>
          <p:nvPr/>
        </p:nvSpPr>
        <p:spPr>
          <a:xfrm>
            <a:off x="478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Card Text 3"/>
          <p:cNvSpPr txBox="1"/>
          <p:nvPr/>
        </p:nvSpPr>
        <p:spPr>
          <a:xfrm>
            <a:off x="484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May miss intent</a:t>
            </a:r>
            <a:endParaRPr lang="en-US" sz="1700" dirty="0"/>
          </a:p>
        </p:txBody>
      </p:sp>
      <p:sp>
        <p:nvSpPr>
          <p:cNvPr id="17" name="Card 4"/>
          <p:cNvSpPr/>
          <p:nvPr/>
        </p:nvSpPr>
        <p:spPr>
          <a:xfrm>
            <a:off x="668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8" name="Accent 4"/>
          <p:cNvSpPr/>
          <p:nvPr/>
        </p:nvSpPr>
        <p:spPr>
          <a:xfrm>
            <a:off x="680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Card Text 4"/>
          <p:cNvSpPr txBox="1"/>
          <p:nvPr/>
        </p:nvSpPr>
        <p:spPr>
          <a:xfrm>
            <a:off x="686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Need review</a:t>
            </a:r>
            <a:endParaRPr lang="en-US" sz="1700" dirty="0"/>
          </a:p>
        </p:txBody>
      </p:sp>
      <p:sp>
        <p:nvSpPr>
          <p:cNvPr id="20" name="Note Cue"/>
          <p:cNvSpPr txBox="1"/>
          <p:nvPr/>
        </p:nvSpPr>
        <p:spPr>
          <a:xfrm>
            <a:off x="600000" y="3950000"/>
            <a:ext cx="380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Presenter note</a:t>
            </a:r>
            <a:endParaRPr lang="en-US" sz="1200" dirty="0"/>
          </a:p>
          <a:p>
            <a:pPr/>
            <a:r>
              <a:rPr lang="en-US" sz="11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Introduce the idea of limitations clearly.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ttom Bar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8624000" y="4943500"/>
            <a:ext cx="26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13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600000" y="420000"/>
            <a:ext cx="5200000" cy="6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2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Activity: Sort The Tasks</a:t>
            </a:r>
            <a:endParaRPr lang="en-US" sz="2200" dirty="0"/>
          </a:p>
        </p:txBody>
      </p:sp>
      <p:cxnSp>
        <p:nvCxnSpPr>
          <p:cNvPr id="6" name="Divider"/>
          <p:cNvCxnSpPr/>
          <p:nvPr/>
        </p:nvCxnSpPr>
        <p:spPr>
          <a:xfrm>
            <a:off x="600000" y="1100000"/>
            <a:ext cx="1900000" cy="0"/>
          </a:xfrm>
          <a:prstGeom prst="line">
            <a:avLst/>
          </a:prstGeom>
          <a:ln w="19050">
            <a:solidFill>
              <a:srgbClr val="FF9900"/>
            </a:solidFill>
          </a:ln>
        </p:spPr>
      </p:cxnSp>
      <p:sp>
        <p:nvSpPr>
          <p:cNvPr id="7" name="Bullets"/>
          <p:cNvSpPr txBox="1"/>
          <p:nvPr/>
        </p:nvSpPr>
        <p:spPr>
          <a:xfrm>
            <a:off x="640000" y="1350000"/>
            <a:ext cx="3500000" cy="24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AI helps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Needs review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Should not decide</a:t>
            </a:r>
            <a:endParaRPr lang="en-US" sz="1700" dirty="0"/>
          </a:p>
        </p:txBody>
      </p:sp>
      <p:sp>
        <p:nvSpPr>
          <p:cNvPr id="8" name="Visual Panel"/>
          <p:cNvSpPr/>
          <p:nvPr/>
        </p:nvSpPr>
        <p:spPr>
          <a:xfrm>
            <a:off x="4780000" y="1280000"/>
            <a:ext cx="3300000" cy="215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9" name="Visual Accent"/>
          <p:cNvSpPr/>
          <p:nvPr/>
        </p:nvSpPr>
        <p:spPr>
          <a:xfrm>
            <a:off x="5050000" y="1540000"/>
            <a:ext cx="340000" cy="34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anel Text"/>
          <p:cNvSpPr txBox="1"/>
          <p:nvPr/>
        </p:nvSpPr>
        <p:spPr>
          <a:xfrm>
            <a:off x="5000000" y="1950000"/>
            <a:ext cx="285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Visual placeholder</a:t>
            </a:r>
            <a:endParaRPr lang="en-US" sz="1800" dirty="0"/>
          </a:p>
          <a:p>
            <a:pPr algn="ctr"/>
            <a:r>
              <a:rPr lang="en-US" sz="13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Designer can replace this with a screenshot, comparison table, or diagram</a:t>
            </a:r>
            <a:endParaRPr lang="en-US" sz="1300" dirty="0"/>
          </a:p>
        </p:txBody>
      </p:sp>
      <p:sp>
        <p:nvSpPr>
          <p:cNvPr id="11" name="Note Cue"/>
          <p:cNvSpPr txBox="1"/>
          <p:nvPr/>
        </p:nvSpPr>
        <p:spPr>
          <a:xfrm>
            <a:off x="600000" y="3950000"/>
            <a:ext cx="380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Presenter note</a:t>
            </a:r>
            <a:endParaRPr lang="en-US" sz="1200" dirty="0"/>
          </a:p>
          <a:p>
            <a:pPr/>
            <a:r>
              <a:rPr lang="en-US" sz="11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Run the first formative activity.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ttom Bar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8624000" y="4943500"/>
            <a:ext cx="26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14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600000" y="420000"/>
            <a:ext cx="5200000" cy="6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2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Not One Best Tool</a:t>
            </a:r>
            <a:endParaRPr lang="en-US" sz="2200" dirty="0"/>
          </a:p>
        </p:txBody>
      </p:sp>
      <p:cxnSp>
        <p:nvCxnSpPr>
          <p:cNvPr id="6" name="Divider"/>
          <p:cNvCxnSpPr/>
          <p:nvPr/>
        </p:nvCxnSpPr>
        <p:spPr>
          <a:xfrm>
            <a:off x="600000" y="1100000"/>
            <a:ext cx="1900000" cy="0"/>
          </a:xfrm>
          <a:prstGeom prst="line">
            <a:avLst/>
          </a:prstGeom>
          <a:ln w="19050">
            <a:solidFill>
              <a:srgbClr val="FF9900"/>
            </a:solidFill>
          </a:ln>
        </p:spPr>
      </p:cxnSp>
      <p:sp>
        <p:nvSpPr>
          <p:cNvPr id="7" name="Bullets"/>
          <p:cNvSpPr txBox="1"/>
          <p:nvPr/>
        </p:nvSpPr>
        <p:spPr>
          <a:xfrm>
            <a:off x="650000" y="1350000"/>
            <a:ext cx="4300000" cy="24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Start with the task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Judge output quality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Refine if needed</a:t>
            </a:r>
            <a:endParaRPr lang="en-US" sz="1700" dirty="0"/>
          </a:p>
        </p:txBody>
      </p:sp>
      <p:sp>
        <p:nvSpPr>
          <p:cNvPr id="8" name="Card 1"/>
          <p:cNvSpPr/>
          <p:nvPr/>
        </p:nvSpPr>
        <p:spPr>
          <a:xfrm>
            <a:off x="62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9" name="Accent 1"/>
          <p:cNvSpPr/>
          <p:nvPr/>
        </p:nvSpPr>
        <p:spPr>
          <a:xfrm>
            <a:off x="74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ard Text 1"/>
          <p:cNvSpPr txBox="1"/>
          <p:nvPr/>
        </p:nvSpPr>
        <p:spPr>
          <a:xfrm>
            <a:off x="80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Start with the task</a:t>
            </a:r>
            <a:endParaRPr lang="en-US" sz="1700" dirty="0"/>
          </a:p>
        </p:txBody>
      </p:sp>
      <p:sp>
        <p:nvSpPr>
          <p:cNvPr id="11" name="Card 2"/>
          <p:cNvSpPr/>
          <p:nvPr/>
        </p:nvSpPr>
        <p:spPr>
          <a:xfrm>
            <a:off x="264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2" name="Accent 2"/>
          <p:cNvSpPr/>
          <p:nvPr/>
        </p:nvSpPr>
        <p:spPr>
          <a:xfrm>
            <a:off x="276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ard Text 2"/>
          <p:cNvSpPr txBox="1"/>
          <p:nvPr/>
        </p:nvSpPr>
        <p:spPr>
          <a:xfrm>
            <a:off x="282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Judge output quality</a:t>
            </a:r>
            <a:endParaRPr lang="en-US" sz="1700" dirty="0"/>
          </a:p>
        </p:txBody>
      </p:sp>
      <p:sp>
        <p:nvSpPr>
          <p:cNvPr id="14" name="Card 3"/>
          <p:cNvSpPr/>
          <p:nvPr/>
        </p:nvSpPr>
        <p:spPr>
          <a:xfrm>
            <a:off x="466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5" name="Accent 3"/>
          <p:cNvSpPr/>
          <p:nvPr/>
        </p:nvSpPr>
        <p:spPr>
          <a:xfrm>
            <a:off x="478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Card Text 3"/>
          <p:cNvSpPr txBox="1"/>
          <p:nvPr/>
        </p:nvSpPr>
        <p:spPr>
          <a:xfrm>
            <a:off x="484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Refine if needed</a:t>
            </a:r>
            <a:endParaRPr lang="en-US" sz="1700" dirty="0"/>
          </a:p>
        </p:txBody>
      </p:sp>
      <p:sp>
        <p:nvSpPr>
          <p:cNvPr id="17" name="Note Cue"/>
          <p:cNvSpPr txBox="1"/>
          <p:nvPr/>
        </p:nvSpPr>
        <p:spPr>
          <a:xfrm>
            <a:off x="600000" y="3950000"/>
            <a:ext cx="380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Presenter note</a:t>
            </a:r>
            <a:endParaRPr lang="en-US" sz="1200" dirty="0"/>
          </a:p>
          <a:p>
            <a:pPr/>
            <a:r>
              <a:rPr lang="en-US" sz="11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Open the tool-comparison section with the right mindset.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ttom Bar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8624000" y="4943500"/>
            <a:ext cx="26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15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600000" y="420000"/>
            <a:ext cx="5200000" cy="6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2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Task Fit Matters</a:t>
            </a:r>
            <a:endParaRPr lang="en-US" sz="2200" dirty="0"/>
          </a:p>
        </p:txBody>
      </p:sp>
      <p:cxnSp>
        <p:nvCxnSpPr>
          <p:cNvPr id="6" name="Divider"/>
          <p:cNvCxnSpPr/>
          <p:nvPr/>
        </p:nvCxnSpPr>
        <p:spPr>
          <a:xfrm>
            <a:off x="600000" y="1100000"/>
            <a:ext cx="1900000" cy="0"/>
          </a:xfrm>
          <a:prstGeom prst="line">
            <a:avLst/>
          </a:prstGeom>
          <a:ln w="19050">
            <a:solidFill>
              <a:srgbClr val="FF9900"/>
            </a:solidFill>
          </a:ln>
        </p:spPr>
      </p:cxnSp>
      <p:sp>
        <p:nvSpPr>
          <p:cNvPr id="7" name="Bullets"/>
          <p:cNvSpPr txBox="1"/>
          <p:nvPr/>
        </p:nvSpPr>
        <p:spPr>
          <a:xfrm>
            <a:off x="640000" y="1350000"/>
            <a:ext cx="3500000" cy="24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Writing support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Long documents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Idea generation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Ecosystem convenience</a:t>
            </a:r>
            <a:endParaRPr lang="en-US" sz="1700" dirty="0"/>
          </a:p>
        </p:txBody>
      </p:sp>
      <p:sp>
        <p:nvSpPr>
          <p:cNvPr id="8" name="Visual Panel"/>
          <p:cNvSpPr/>
          <p:nvPr/>
        </p:nvSpPr>
        <p:spPr>
          <a:xfrm>
            <a:off x="4780000" y="1280000"/>
            <a:ext cx="3300000" cy="215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9" name="Visual Accent"/>
          <p:cNvSpPr/>
          <p:nvPr/>
        </p:nvSpPr>
        <p:spPr>
          <a:xfrm>
            <a:off x="5050000" y="1540000"/>
            <a:ext cx="340000" cy="34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anel Text"/>
          <p:cNvSpPr txBox="1"/>
          <p:nvPr/>
        </p:nvSpPr>
        <p:spPr>
          <a:xfrm>
            <a:off x="5000000" y="1950000"/>
            <a:ext cx="285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Visual placeholder</a:t>
            </a:r>
            <a:endParaRPr lang="en-US" sz="1800" dirty="0"/>
          </a:p>
          <a:p>
            <a:pPr algn="ctr"/>
            <a:r>
              <a:rPr lang="en-US" sz="13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Designer can replace this with a screenshot, comparison table, or diagram</a:t>
            </a:r>
            <a:endParaRPr lang="en-US" sz="1300" dirty="0"/>
          </a:p>
        </p:txBody>
      </p:sp>
      <p:sp>
        <p:nvSpPr>
          <p:cNvPr id="11" name="Note Cue"/>
          <p:cNvSpPr txBox="1"/>
          <p:nvPr/>
        </p:nvSpPr>
        <p:spPr>
          <a:xfrm>
            <a:off x="600000" y="3950000"/>
            <a:ext cx="380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Presenter note</a:t>
            </a:r>
            <a:endParaRPr lang="en-US" sz="1200" dirty="0"/>
          </a:p>
          <a:p>
            <a:pPr/>
            <a:r>
              <a:rPr lang="en-US" sz="11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Frame the comparison around task fit.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ttom Bar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8624000" y="4943500"/>
            <a:ext cx="26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16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600000" y="420000"/>
            <a:ext cx="5200000" cy="6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2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How Beginners Compare Tools</a:t>
            </a:r>
            <a:endParaRPr lang="en-US" sz="2200" dirty="0"/>
          </a:p>
        </p:txBody>
      </p:sp>
      <p:cxnSp>
        <p:nvCxnSpPr>
          <p:cNvPr id="6" name="Divider"/>
          <p:cNvCxnSpPr/>
          <p:nvPr/>
        </p:nvCxnSpPr>
        <p:spPr>
          <a:xfrm>
            <a:off x="600000" y="1100000"/>
            <a:ext cx="1900000" cy="0"/>
          </a:xfrm>
          <a:prstGeom prst="line">
            <a:avLst/>
          </a:prstGeom>
          <a:ln w="19050">
            <a:solidFill>
              <a:srgbClr val="FF9900"/>
            </a:solidFill>
          </a:ln>
        </p:spPr>
      </p:cxnSp>
      <p:sp>
        <p:nvSpPr>
          <p:cNvPr id="7" name="Bullets"/>
          <p:cNvSpPr txBox="1"/>
          <p:nvPr/>
        </p:nvSpPr>
        <p:spPr>
          <a:xfrm>
            <a:off x="650000" y="1350000"/>
            <a:ext cx="4300000" cy="24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Start with task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Check first answer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Try one refinement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Prefer easier iteration</a:t>
            </a:r>
            <a:endParaRPr lang="en-US" sz="1700" dirty="0"/>
          </a:p>
        </p:txBody>
      </p:sp>
      <p:sp>
        <p:nvSpPr>
          <p:cNvPr id="8" name="Card 1"/>
          <p:cNvSpPr/>
          <p:nvPr/>
        </p:nvSpPr>
        <p:spPr>
          <a:xfrm>
            <a:off x="62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9" name="Accent 1"/>
          <p:cNvSpPr/>
          <p:nvPr/>
        </p:nvSpPr>
        <p:spPr>
          <a:xfrm>
            <a:off x="74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ard Text 1"/>
          <p:cNvSpPr txBox="1"/>
          <p:nvPr/>
        </p:nvSpPr>
        <p:spPr>
          <a:xfrm>
            <a:off x="80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Start with task</a:t>
            </a:r>
            <a:endParaRPr lang="en-US" sz="1700" dirty="0"/>
          </a:p>
        </p:txBody>
      </p:sp>
      <p:sp>
        <p:nvSpPr>
          <p:cNvPr id="11" name="Card 2"/>
          <p:cNvSpPr/>
          <p:nvPr/>
        </p:nvSpPr>
        <p:spPr>
          <a:xfrm>
            <a:off x="264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2" name="Accent 2"/>
          <p:cNvSpPr/>
          <p:nvPr/>
        </p:nvSpPr>
        <p:spPr>
          <a:xfrm>
            <a:off x="276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ard Text 2"/>
          <p:cNvSpPr txBox="1"/>
          <p:nvPr/>
        </p:nvSpPr>
        <p:spPr>
          <a:xfrm>
            <a:off x="282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Check first answer</a:t>
            </a:r>
            <a:endParaRPr lang="en-US" sz="1700" dirty="0"/>
          </a:p>
        </p:txBody>
      </p:sp>
      <p:sp>
        <p:nvSpPr>
          <p:cNvPr id="14" name="Card 3"/>
          <p:cNvSpPr/>
          <p:nvPr/>
        </p:nvSpPr>
        <p:spPr>
          <a:xfrm>
            <a:off x="466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5" name="Accent 3"/>
          <p:cNvSpPr/>
          <p:nvPr/>
        </p:nvSpPr>
        <p:spPr>
          <a:xfrm>
            <a:off x="478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Card Text 3"/>
          <p:cNvSpPr txBox="1"/>
          <p:nvPr/>
        </p:nvSpPr>
        <p:spPr>
          <a:xfrm>
            <a:off x="484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Try one refinement</a:t>
            </a:r>
            <a:endParaRPr lang="en-US" sz="1700" dirty="0"/>
          </a:p>
        </p:txBody>
      </p:sp>
      <p:sp>
        <p:nvSpPr>
          <p:cNvPr id="17" name="Card 4"/>
          <p:cNvSpPr/>
          <p:nvPr/>
        </p:nvSpPr>
        <p:spPr>
          <a:xfrm>
            <a:off x="668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8" name="Accent 4"/>
          <p:cNvSpPr/>
          <p:nvPr/>
        </p:nvSpPr>
        <p:spPr>
          <a:xfrm>
            <a:off x="680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Card Text 4"/>
          <p:cNvSpPr txBox="1"/>
          <p:nvPr/>
        </p:nvSpPr>
        <p:spPr>
          <a:xfrm>
            <a:off x="686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Prefer easier iteration</a:t>
            </a:r>
            <a:endParaRPr lang="en-US" sz="1700" dirty="0"/>
          </a:p>
        </p:txBody>
      </p:sp>
      <p:sp>
        <p:nvSpPr>
          <p:cNvPr id="20" name="Note Cue"/>
          <p:cNvSpPr txBox="1"/>
          <p:nvPr/>
        </p:nvSpPr>
        <p:spPr>
          <a:xfrm>
            <a:off x="600000" y="3950000"/>
            <a:ext cx="380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Presenter note</a:t>
            </a:r>
            <a:endParaRPr lang="en-US" sz="1200" dirty="0"/>
          </a:p>
          <a:p>
            <a:pPr/>
            <a:r>
              <a:rPr lang="en-US" sz="11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Teach a simple comparison habit.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ttom Bar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8624000" y="4943500"/>
            <a:ext cx="26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17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600000" y="420000"/>
            <a:ext cx="5200000" cy="6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2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Activity: Pick The Assistant</a:t>
            </a:r>
            <a:endParaRPr lang="en-US" sz="2200" dirty="0"/>
          </a:p>
        </p:txBody>
      </p:sp>
      <p:cxnSp>
        <p:nvCxnSpPr>
          <p:cNvPr id="6" name="Divider"/>
          <p:cNvCxnSpPr/>
          <p:nvPr/>
        </p:nvCxnSpPr>
        <p:spPr>
          <a:xfrm>
            <a:off x="600000" y="1100000"/>
            <a:ext cx="1900000" cy="0"/>
          </a:xfrm>
          <a:prstGeom prst="line">
            <a:avLst/>
          </a:prstGeom>
          <a:ln w="19050">
            <a:solidFill>
              <a:srgbClr val="FF9900"/>
            </a:solidFill>
          </a:ln>
        </p:spPr>
      </p:cxnSp>
      <p:sp>
        <p:nvSpPr>
          <p:cNvPr id="7" name="Bullets"/>
          <p:cNvSpPr txBox="1"/>
          <p:nvPr/>
        </p:nvSpPr>
        <p:spPr>
          <a:xfrm>
            <a:off x="640000" y="1350000"/>
            <a:ext cx="3500000" cy="24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Three scenarios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Choose a tool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Explain why</a:t>
            </a:r>
            <a:endParaRPr lang="en-US" sz="1700" dirty="0"/>
          </a:p>
        </p:txBody>
      </p:sp>
      <p:sp>
        <p:nvSpPr>
          <p:cNvPr id="8" name="Visual Panel"/>
          <p:cNvSpPr/>
          <p:nvPr/>
        </p:nvSpPr>
        <p:spPr>
          <a:xfrm>
            <a:off x="4780000" y="1280000"/>
            <a:ext cx="3300000" cy="215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9" name="Visual Accent"/>
          <p:cNvSpPr/>
          <p:nvPr/>
        </p:nvSpPr>
        <p:spPr>
          <a:xfrm>
            <a:off x="5050000" y="1540000"/>
            <a:ext cx="340000" cy="34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anel Text"/>
          <p:cNvSpPr txBox="1"/>
          <p:nvPr/>
        </p:nvSpPr>
        <p:spPr>
          <a:xfrm>
            <a:off x="5000000" y="1950000"/>
            <a:ext cx="285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Visual placeholder</a:t>
            </a:r>
            <a:endParaRPr lang="en-US" sz="1800" dirty="0"/>
          </a:p>
          <a:p>
            <a:pPr algn="ctr"/>
            <a:r>
              <a:rPr lang="en-US" sz="13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Designer can replace this with a screenshot, comparison table, or diagram</a:t>
            </a:r>
            <a:endParaRPr lang="en-US" sz="1300" dirty="0"/>
          </a:p>
        </p:txBody>
      </p:sp>
      <p:sp>
        <p:nvSpPr>
          <p:cNvPr id="11" name="Note Cue"/>
          <p:cNvSpPr txBox="1"/>
          <p:nvPr/>
        </p:nvSpPr>
        <p:spPr>
          <a:xfrm>
            <a:off x="600000" y="3950000"/>
            <a:ext cx="380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Presenter note</a:t>
            </a:r>
            <a:endParaRPr lang="en-US" sz="1200" dirty="0"/>
          </a:p>
          <a:p>
            <a:pPr/>
            <a:r>
              <a:rPr lang="en-US" sz="11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Run the second activity.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ttom Bar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8624000" y="4943500"/>
            <a:ext cx="26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18</a:t>
            </a:r>
            <a:endParaRPr lang="en-US" sz="1100" dirty="0"/>
          </a:p>
        </p:txBody>
      </p:sp>
      <p:sp>
        <p:nvSpPr>
          <p:cNvPr id="5" name="Hero Circle"/>
          <p:cNvSpPr/>
          <p:nvPr/>
        </p:nvSpPr>
        <p:spPr>
          <a:xfrm>
            <a:off x="6500000" y="850000"/>
            <a:ext cx="1700000" cy="1700000"/>
          </a:xfrm>
          <a:prstGeom prst="ellipse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6" name="Hero Dot"/>
          <p:cNvSpPr/>
          <p:nvPr/>
        </p:nvSpPr>
        <p:spPr>
          <a:xfrm>
            <a:off x="7250000" y="1250000"/>
            <a:ext cx="280000" cy="28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Accent Line"/>
          <p:cNvCxnSpPr/>
          <p:nvPr/>
        </p:nvCxnSpPr>
        <p:spPr>
          <a:xfrm>
            <a:off x="900000" y="1780000"/>
            <a:ext cx="2100000" cy="0"/>
          </a:xfrm>
          <a:prstGeom prst="line">
            <a:avLst/>
          </a:prstGeom>
          <a:ln w="19050">
            <a:solidFill>
              <a:srgbClr val="FF9900"/>
            </a:solidFill>
          </a:ln>
        </p:spPr>
      </p:cxnSp>
      <p:sp>
        <p:nvSpPr>
          <p:cNvPr id="8" name="Title"/>
          <p:cNvSpPr txBox="1"/>
          <p:nvPr/>
        </p:nvSpPr>
        <p:spPr>
          <a:xfrm>
            <a:off x="800000" y="1050000"/>
            <a:ext cx="5400000" cy="9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26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Context Changes Quality</a:t>
            </a:r>
            <a:endParaRPr lang="en-US" sz="2600" dirty="0"/>
          </a:p>
        </p:txBody>
      </p:sp>
      <p:sp>
        <p:nvSpPr>
          <p:cNvPr id="9" name="Subtitle"/>
          <p:cNvSpPr txBox="1"/>
          <p:nvPr/>
        </p:nvSpPr>
        <p:spPr>
          <a:xfrm>
            <a:off x="820000" y="2050000"/>
            <a:ext cx="4700000" cy="12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Weak prompts stay vague</a:t>
            </a:r>
            <a:endParaRPr lang="en-US" sz="1700" dirty="0"/>
          </a:p>
          <a:p>
            <a:pPr/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Context improves usefulness</a:t>
            </a:r>
            <a:endParaRPr lang="en-US" sz="1700" dirty="0"/>
          </a:p>
          <a:p>
            <a:pPr/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Clear direction matters</a:t>
            </a:r>
            <a:endParaRPr lang="en-US" sz="1700" dirty="0"/>
          </a:p>
        </p:txBody>
      </p:sp>
      <p:sp>
        <p:nvSpPr>
          <p:cNvPr id="10" name="Note Cue"/>
          <p:cNvSpPr txBox="1"/>
          <p:nvPr/>
        </p:nvSpPr>
        <p:spPr>
          <a:xfrm>
            <a:off x="600000" y="3950000"/>
            <a:ext cx="380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Presenter note</a:t>
            </a:r>
            <a:endParaRPr lang="en-US" sz="1200" dirty="0"/>
          </a:p>
          <a:p>
            <a:pPr/>
            <a:r>
              <a:rPr lang="en-US" sz="11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Introduce the central skill of the session.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ttom Bar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8624000" y="4943500"/>
            <a:ext cx="26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19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600000" y="420000"/>
            <a:ext cx="5200000" cy="6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2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Weak Prompt Example</a:t>
            </a:r>
            <a:endParaRPr lang="en-US" sz="2200" dirty="0"/>
          </a:p>
        </p:txBody>
      </p:sp>
      <p:cxnSp>
        <p:nvCxnSpPr>
          <p:cNvPr id="6" name="Divider"/>
          <p:cNvCxnSpPr/>
          <p:nvPr/>
        </p:nvCxnSpPr>
        <p:spPr>
          <a:xfrm>
            <a:off x="600000" y="1100000"/>
            <a:ext cx="1900000" cy="0"/>
          </a:xfrm>
          <a:prstGeom prst="line">
            <a:avLst/>
          </a:prstGeom>
          <a:ln w="19050">
            <a:solidFill>
              <a:srgbClr val="FF9900"/>
            </a:solidFill>
          </a:ln>
        </p:spPr>
      </p:cxnSp>
      <p:sp>
        <p:nvSpPr>
          <p:cNvPr id="7" name="Bullets"/>
          <p:cNvSpPr txBox="1"/>
          <p:nvPr/>
        </p:nvSpPr>
        <p:spPr>
          <a:xfrm>
            <a:off x="650000" y="1350000"/>
            <a:ext cx="4300000" cy="24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Write an email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Too open-ended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Generic result likely</a:t>
            </a:r>
            <a:endParaRPr lang="en-US" sz="1700" dirty="0"/>
          </a:p>
        </p:txBody>
      </p:sp>
      <p:sp>
        <p:nvSpPr>
          <p:cNvPr id="8" name="Card 1"/>
          <p:cNvSpPr/>
          <p:nvPr/>
        </p:nvSpPr>
        <p:spPr>
          <a:xfrm>
            <a:off x="62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9" name="Accent 1"/>
          <p:cNvSpPr/>
          <p:nvPr/>
        </p:nvSpPr>
        <p:spPr>
          <a:xfrm>
            <a:off x="74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ard Text 1"/>
          <p:cNvSpPr txBox="1"/>
          <p:nvPr/>
        </p:nvSpPr>
        <p:spPr>
          <a:xfrm>
            <a:off x="80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Write an email</a:t>
            </a:r>
            <a:endParaRPr lang="en-US" sz="1700" dirty="0"/>
          </a:p>
        </p:txBody>
      </p:sp>
      <p:sp>
        <p:nvSpPr>
          <p:cNvPr id="11" name="Card 2"/>
          <p:cNvSpPr/>
          <p:nvPr/>
        </p:nvSpPr>
        <p:spPr>
          <a:xfrm>
            <a:off x="264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2" name="Accent 2"/>
          <p:cNvSpPr/>
          <p:nvPr/>
        </p:nvSpPr>
        <p:spPr>
          <a:xfrm>
            <a:off x="276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ard Text 2"/>
          <p:cNvSpPr txBox="1"/>
          <p:nvPr/>
        </p:nvSpPr>
        <p:spPr>
          <a:xfrm>
            <a:off x="282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Too open-ended</a:t>
            </a:r>
            <a:endParaRPr lang="en-US" sz="1700" dirty="0"/>
          </a:p>
        </p:txBody>
      </p:sp>
      <p:sp>
        <p:nvSpPr>
          <p:cNvPr id="14" name="Card 3"/>
          <p:cNvSpPr/>
          <p:nvPr/>
        </p:nvSpPr>
        <p:spPr>
          <a:xfrm>
            <a:off x="466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5" name="Accent 3"/>
          <p:cNvSpPr/>
          <p:nvPr/>
        </p:nvSpPr>
        <p:spPr>
          <a:xfrm>
            <a:off x="478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Card Text 3"/>
          <p:cNvSpPr txBox="1"/>
          <p:nvPr/>
        </p:nvSpPr>
        <p:spPr>
          <a:xfrm>
            <a:off x="484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Generic result likely</a:t>
            </a:r>
            <a:endParaRPr lang="en-US" sz="1700" dirty="0"/>
          </a:p>
        </p:txBody>
      </p:sp>
      <p:sp>
        <p:nvSpPr>
          <p:cNvPr id="17" name="Note Cue"/>
          <p:cNvSpPr txBox="1"/>
          <p:nvPr/>
        </p:nvSpPr>
        <p:spPr>
          <a:xfrm>
            <a:off x="600000" y="3950000"/>
            <a:ext cx="380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Presenter note</a:t>
            </a:r>
            <a:endParaRPr lang="en-US" sz="1200" dirty="0"/>
          </a:p>
          <a:p>
            <a:pPr/>
            <a:r>
              <a:rPr lang="en-US" sz="11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Show a deliberately weak prompt first.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ttom Bar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8624000" y="4943500"/>
            <a:ext cx="26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20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600000" y="420000"/>
            <a:ext cx="5200000" cy="6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2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Stronger Prompt Example</a:t>
            </a:r>
            <a:endParaRPr lang="en-US" sz="2200" dirty="0"/>
          </a:p>
        </p:txBody>
      </p:sp>
      <p:cxnSp>
        <p:nvCxnSpPr>
          <p:cNvPr id="6" name="Divider"/>
          <p:cNvCxnSpPr/>
          <p:nvPr/>
        </p:nvCxnSpPr>
        <p:spPr>
          <a:xfrm>
            <a:off x="600000" y="1100000"/>
            <a:ext cx="1900000" cy="0"/>
          </a:xfrm>
          <a:prstGeom prst="line">
            <a:avLst/>
          </a:prstGeom>
          <a:ln w="19050">
            <a:solidFill>
              <a:srgbClr val="FF9900"/>
            </a:solidFill>
          </a:ln>
        </p:spPr>
      </p:cxnSp>
      <p:sp>
        <p:nvSpPr>
          <p:cNvPr id="7" name="Bullets"/>
          <p:cNvSpPr txBox="1"/>
          <p:nvPr/>
        </p:nvSpPr>
        <p:spPr>
          <a:xfrm>
            <a:off x="640000" y="1350000"/>
            <a:ext cx="3500000" cy="24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Audience included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Goal included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Tone included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Length included</a:t>
            </a:r>
            <a:endParaRPr lang="en-US" sz="1700" dirty="0"/>
          </a:p>
        </p:txBody>
      </p:sp>
      <p:sp>
        <p:nvSpPr>
          <p:cNvPr id="8" name="Visual Panel"/>
          <p:cNvSpPr/>
          <p:nvPr/>
        </p:nvSpPr>
        <p:spPr>
          <a:xfrm>
            <a:off x="4780000" y="1280000"/>
            <a:ext cx="3300000" cy="215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9" name="Visual Accent"/>
          <p:cNvSpPr/>
          <p:nvPr/>
        </p:nvSpPr>
        <p:spPr>
          <a:xfrm>
            <a:off x="5050000" y="1540000"/>
            <a:ext cx="340000" cy="34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anel Text"/>
          <p:cNvSpPr txBox="1"/>
          <p:nvPr/>
        </p:nvSpPr>
        <p:spPr>
          <a:xfrm>
            <a:off x="5000000" y="1950000"/>
            <a:ext cx="285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Visual placeholder</a:t>
            </a:r>
            <a:endParaRPr lang="en-US" sz="1800" dirty="0"/>
          </a:p>
          <a:p>
            <a:pPr algn="ctr"/>
            <a:r>
              <a:rPr lang="en-US" sz="13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Designer can replace this with a screenshot, comparison table, or diagram</a:t>
            </a:r>
            <a:endParaRPr lang="en-US" sz="1300" dirty="0"/>
          </a:p>
        </p:txBody>
      </p:sp>
      <p:sp>
        <p:nvSpPr>
          <p:cNvPr id="11" name="Note Cue"/>
          <p:cNvSpPr txBox="1"/>
          <p:nvPr/>
        </p:nvSpPr>
        <p:spPr>
          <a:xfrm>
            <a:off x="600000" y="3950000"/>
            <a:ext cx="380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Presenter note</a:t>
            </a:r>
            <a:endParaRPr lang="en-US" sz="1200" dirty="0"/>
          </a:p>
          <a:p>
            <a:pPr/>
            <a:r>
              <a:rPr lang="en-US" sz="11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Show the improved prompt and read it aloud in a paced way.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ttom Bar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8624000" y="4943500"/>
            <a:ext cx="26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21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600000" y="420000"/>
            <a:ext cx="5200000" cy="6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2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Prompt Upgrade Framework</a:t>
            </a:r>
            <a:endParaRPr lang="en-US" sz="2200" dirty="0"/>
          </a:p>
        </p:txBody>
      </p:sp>
      <p:cxnSp>
        <p:nvCxnSpPr>
          <p:cNvPr id="6" name="Divider"/>
          <p:cNvCxnSpPr/>
          <p:nvPr/>
        </p:nvCxnSpPr>
        <p:spPr>
          <a:xfrm>
            <a:off x="600000" y="1100000"/>
            <a:ext cx="1900000" cy="0"/>
          </a:xfrm>
          <a:prstGeom prst="line">
            <a:avLst/>
          </a:prstGeom>
          <a:ln w="19050">
            <a:solidFill>
              <a:srgbClr val="FF9900"/>
            </a:solidFill>
          </a:ln>
        </p:spPr>
      </p:cxnSp>
      <p:sp>
        <p:nvSpPr>
          <p:cNvPr id="7" name="Bullets"/>
          <p:cNvSpPr txBox="1"/>
          <p:nvPr/>
        </p:nvSpPr>
        <p:spPr>
          <a:xfrm>
            <a:off x="650000" y="1350000"/>
            <a:ext cx="4300000" cy="24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Role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Task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Context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Constraints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Output format</a:t>
            </a:r>
            <a:endParaRPr lang="en-US" sz="1700" dirty="0"/>
          </a:p>
        </p:txBody>
      </p:sp>
      <p:sp>
        <p:nvSpPr>
          <p:cNvPr id="8" name="Card 1"/>
          <p:cNvSpPr/>
          <p:nvPr/>
        </p:nvSpPr>
        <p:spPr>
          <a:xfrm>
            <a:off x="62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9" name="Accent 1"/>
          <p:cNvSpPr/>
          <p:nvPr/>
        </p:nvSpPr>
        <p:spPr>
          <a:xfrm>
            <a:off x="74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ard Text 1"/>
          <p:cNvSpPr txBox="1"/>
          <p:nvPr/>
        </p:nvSpPr>
        <p:spPr>
          <a:xfrm>
            <a:off x="80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Role</a:t>
            </a:r>
            <a:endParaRPr lang="en-US" sz="1700" dirty="0"/>
          </a:p>
        </p:txBody>
      </p:sp>
      <p:sp>
        <p:nvSpPr>
          <p:cNvPr id="11" name="Card 2"/>
          <p:cNvSpPr/>
          <p:nvPr/>
        </p:nvSpPr>
        <p:spPr>
          <a:xfrm>
            <a:off x="264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2" name="Accent 2"/>
          <p:cNvSpPr/>
          <p:nvPr/>
        </p:nvSpPr>
        <p:spPr>
          <a:xfrm>
            <a:off x="276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ard Text 2"/>
          <p:cNvSpPr txBox="1"/>
          <p:nvPr/>
        </p:nvSpPr>
        <p:spPr>
          <a:xfrm>
            <a:off x="282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Task</a:t>
            </a:r>
            <a:endParaRPr lang="en-US" sz="1700" dirty="0"/>
          </a:p>
        </p:txBody>
      </p:sp>
      <p:sp>
        <p:nvSpPr>
          <p:cNvPr id="14" name="Card 3"/>
          <p:cNvSpPr/>
          <p:nvPr/>
        </p:nvSpPr>
        <p:spPr>
          <a:xfrm>
            <a:off x="466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5" name="Accent 3"/>
          <p:cNvSpPr/>
          <p:nvPr/>
        </p:nvSpPr>
        <p:spPr>
          <a:xfrm>
            <a:off x="478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Card Text 3"/>
          <p:cNvSpPr txBox="1"/>
          <p:nvPr/>
        </p:nvSpPr>
        <p:spPr>
          <a:xfrm>
            <a:off x="484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Context</a:t>
            </a:r>
            <a:endParaRPr lang="en-US" sz="1700" dirty="0"/>
          </a:p>
        </p:txBody>
      </p:sp>
      <p:sp>
        <p:nvSpPr>
          <p:cNvPr id="17" name="Card 4"/>
          <p:cNvSpPr/>
          <p:nvPr/>
        </p:nvSpPr>
        <p:spPr>
          <a:xfrm>
            <a:off x="668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8" name="Accent 4"/>
          <p:cNvSpPr/>
          <p:nvPr/>
        </p:nvSpPr>
        <p:spPr>
          <a:xfrm>
            <a:off x="680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Card Text 4"/>
          <p:cNvSpPr txBox="1"/>
          <p:nvPr/>
        </p:nvSpPr>
        <p:spPr>
          <a:xfrm>
            <a:off x="686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Constraints</a:t>
            </a:r>
            <a:endParaRPr lang="en-US" sz="1700" dirty="0"/>
          </a:p>
        </p:txBody>
      </p:sp>
      <p:sp>
        <p:nvSpPr>
          <p:cNvPr id="20" name="Note Cue"/>
          <p:cNvSpPr txBox="1"/>
          <p:nvPr/>
        </p:nvSpPr>
        <p:spPr>
          <a:xfrm>
            <a:off x="600000" y="3950000"/>
            <a:ext cx="380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Presenter note</a:t>
            </a:r>
            <a:endParaRPr lang="en-US" sz="1200" dirty="0"/>
          </a:p>
          <a:p>
            <a:pPr/>
            <a:r>
              <a:rPr lang="en-US" sz="11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Present the five-part beginner framework clearly.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ttom Bar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8624000" y="4943500"/>
            <a:ext cx="26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22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600000" y="420000"/>
            <a:ext cx="5200000" cy="6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2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Activity: Upgrade A Prompt</a:t>
            </a:r>
            <a:endParaRPr lang="en-US" sz="2200" dirty="0"/>
          </a:p>
        </p:txBody>
      </p:sp>
      <p:cxnSp>
        <p:nvCxnSpPr>
          <p:cNvPr id="6" name="Divider"/>
          <p:cNvCxnSpPr/>
          <p:nvPr/>
        </p:nvCxnSpPr>
        <p:spPr>
          <a:xfrm>
            <a:off x="600000" y="1100000"/>
            <a:ext cx="1900000" cy="0"/>
          </a:xfrm>
          <a:prstGeom prst="line">
            <a:avLst/>
          </a:prstGeom>
          <a:ln w="19050">
            <a:solidFill>
              <a:srgbClr val="FF9900"/>
            </a:solidFill>
          </a:ln>
        </p:spPr>
      </p:cxnSp>
      <p:sp>
        <p:nvSpPr>
          <p:cNvPr id="7" name="Bullets"/>
          <p:cNvSpPr txBox="1"/>
          <p:nvPr/>
        </p:nvSpPr>
        <p:spPr>
          <a:xfrm>
            <a:off x="640000" y="1350000"/>
            <a:ext cx="3500000" cy="24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Pick one weak prompt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Use the framework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Explain your choices</a:t>
            </a:r>
            <a:endParaRPr lang="en-US" sz="1700" dirty="0"/>
          </a:p>
        </p:txBody>
      </p:sp>
      <p:sp>
        <p:nvSpPr>
          <p:cNvPr id="8" name="Visual Panel"/>
          <p:cNvSpPr/>
          <p:nvPr/>
        </p:nvSpPr>
        <p:spPr>
          <a:xfrm>
            <a:off x="4780000" y="1280000"/>
            <a:ext cx="3300000" cy="215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9" name="Visual Accent"/>
          <p:cNvSpPr/>
          <p:nvPr/>
        </p:nvSpPr>
        <p:spPr>
          <a:xfrm>
            <a:off x="5050000" y="1540000"/>
            <a:ext cx="340000" cy="34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anel Text"/>
          <p:cNvSpPr txBox="1"/>
          <p:nvPr/>
        </p:nvSpPr>
        <p:spPr>
          <a:xfrm>
            <a:off x="5000000" y="1950000"/>
            <a:ext cx="285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Visual placeholder</a:t>
            </a:r>
            <a:endParaRPr lang="en-US" sz="1800" dirty="0"/>
          </a:p>
          <a:p>
            <a:pPr algn="ctr"/>
            <a:r>
              <a:rPr lang="en-US" sz="13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Designer can replace this with a screenshot, comparison table, or diagram</a:t>
            </a:r>
            <a:endParaRPr lang="en-US" sz="1300" dirty="0"/>
          </a:p>
        </p:txBody>
      </p:sp>
      <p:sp>
        <p:nvSpPr>
          <p:cNvPr id="11" name="Note Cue"/>
          <p:cNvSpPr txBox="1"/>
          <p:nvPr/>
        </p:nvSpPr>
        <p:spPr>
          <a:xfrm>
            <a:off x="600000" y="3950000"/>
            <a:ext cx="380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Presenter note</a:t>
            </a:r>
            <a:endParaRPr lang="en-US" sz="1200" dirty="0"/>
          </a:p>
          <a:p>
            <a:pPr/>
            <a:r>
              <a:rPr lang="en-US" sz="11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Run the main apply-level activity.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ttom Bar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8624000" y="4943500"/>
            <a:ext cx="26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23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600000" y="420000"/>
            <a:ext cx="5200000" cy="6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2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Key Takeaways</a:t>
            </a:r>
            <a:endParaRPr lang="en-US" sz="2200" dirty="0"/>
          </a:p>
        </p:txBody>
      </p:sp>
      <p:cxnSp>
        <p:nvCxnSpPr>
          <p:cNvPr id="6" name="Divider"/>
          <p:cNvCxnSpPr/>
          <p:nvPr/>
        </p:nvCxnSpPr>
        <p:spPr>
          <a:xfrm>
            <a:off x="600000" y="1100000"/>
            <a:ext cx="1900000" cy="0"/>
          </a:xfrm>
          <a:prstGeom prst="line">
            <a:avLst/>
          </a:prstGeom>
          <a:ln w="19050">
            <a:solidFill>
              <a:srgbClr val="FF9900"/>
            </a:solidFill>
          </a:ln>
        </p:spPr>
      </p:cxnSp>
      <p:sp>
        <p:nvSpPr>
          <p:cNvPr id="7" name="Bullets"/>
          <p:cNvSpPr txBox="1"/>
          <p:nvPr/>
        </p:nvSpPr>
        <p:spPr>
          <a:xfrm>
            <a:off x="650000" y="1350000"/>
            <a:ext cx="4300000" cy="24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GenAI speeds early work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Assistants need review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Choose by task fit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Context improves results</a:t>
            </a:r>
            <a:endParaRPr lang="en-US" sz="1700" dirty="0"/>
          </a:p>
        </p:txBody>
      </p:sp>
      <p:sp>
        <p:nvSpPr>
          <p:cNvPr id="8" name="Card 1"/>
          <p:cNvSpPr/>
          <p:nvPr/>
        </p:nvSpPr>
        <p:spPr>
          <a:xfrm>
            <a:off x="62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9" name="Accent 1"/>
          <p:cNvSpPr/>
          <p:nvPr/>
        </p:nvSpPr>
        <p:spPr>
          <a:xfrm>
            <a:off x="74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ard Text 1"/>
          <p:cNvSpPr txBox="1"/>
          <p:nvPr/>
        </p:nvSpPr>
        <p:spPr>
          <a:xfrm>
            <a:off x="80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GenAI speeds early work</a:t>
            </a:r>
            <a:endParaRPr lang="en-US" sz="1700" dirty="0"/>
          </a:p>
        </p:txBody>
      </p:sp>
      <p:sp>
        <p:nvSpPr>
          <p:cNvPr id="11" name="Card 2"/>
          <p:cNvSpPr/>
          <p:nvPr/>
        </p:nvSpPr>
        <p:spPr>
          <a:xfrm>
            <a:off x="264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2" name="Accent 2"/>
          <p:cNvSpPr/>
          <p:nvPr/>
        </p:nvSpPr>
        <p:spPr>
          <a:xfrm>
            <a:off x="276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ard Text 2"/>
          <p:cNvSpPr txBox="1"/>
          <p:nvPr/>
        </p:nvSpPr>
        <p:spPr>
          <a:xfrm>
            <a:off x="282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Assistants need review</a:t>
            </a:r>
            <a:endParaRPr lang="en-US" sz="1700" dirty="0"/>
          </a:p>
        </p:txBody>
      </p:sp>
      <p:sp>
        <p:nvSpPr>
          <p:cNvPr id="14" name="Card 3"/>
          <p:cNvSpPr/>
          <p:nvPr/>
        </p:nvSpPr>
        <p:spPr>
          <a:xfrm>
            <a:off x="466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5" name="Accent 3"/>
          <p:cNvSpPr/>
          <p:nvPr/>
        </p:nvSpPr>
        <p:spPr>
          <a:xfrm>
            <a:off x="478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Card Text 3"/>
          <p:cNvSpPr txBox="1"/>
          <p:nvPr/>
        </p:nvSpPr>
        <p:spPr>
          <a:xfrm>
            <a:off x="484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Choose by task fit</a:t>
            </a:r>
            <a:endParaRPr lang="en-US" sz="1700" dirty="0"/>
          </a:p>
        </p:txBody>
      </p:sp>
      <p:sp>
        <p:nvSpPr>
          <p:cNvPr id="17" name="Card 4"/>
          <p:cNvSpPr/>
          <p:nvPr/>
        </p:nvSpPr>
        <p:spPr>
          <a:xfrm>
            <a:off x="668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8" name="Accent 4"/>
          <p:cNvSpPr/>
          <p:nvPr/>
        </p:nvSpPr>
        <p:spPr>
          <a:xfrm>
            <a:off x="680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Card Text 4"/>
          <p:cNvSpPr txBox="1"/>
          <p:nvPr/>
        </p:nvSpPr>
        <p:spPr>
          <a:xfrm>
            <a:off x="686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Context improves results</a:t>
            </a:r>
            <a:endParaRPr lang="en-US" sz="1700" dirty="0"/>
          </a:p>
        </p:txBody>
      </p:sp>
      <p:sp>
        <p:nvSpPr>
          <p:cNvPr id="20" name="Note Cue"/>
          <p:cNvSpPr txBox="1"/>
          <p:nvPr/>
        </p:nvSpPr>
        <p:spPr>
          <a:xfrm>
            <a:off x="600000" y="3950000"/>
            <a:ext cx="380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Presenter note</a:t>
            </a:r>
            <a:endParaRPr lang="en-US" sz="1200" dirty="0"/>
          </a:p>
          <a:p>
            <a:pPr/>
            <a:r>
              <a:rPr lang="en-US" sz="11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Mirror the agenda with the takeaways.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ttom Bar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8624000" y="4943500"/>
            <a:ext cx="26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24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600000" y="420000"/>
            <a:ext cx="5200000" cy="6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2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Next Session</a:t>
            </a:r>
            <a:endParaRPr lang="en-US" sz="2200" dirty="0"/>
          </a:p>
        </p:txBody>
      </p:sp>
      <p:cxnSp>
        <p:nvCxnSpPr>
          <p:cNvPr id="6" name="Divider"/>
          <p:cNvCxnSpPr/>
          <p:nvPr/>
        </p:nvCxnSpPr>
        <p:spPr>
          <a:xfrm>
            <a:off x="600000" y="1100000"/>
            <a:ext cx="1900000" cy="0"/>
          </a:xfrm>
          <a:prstGeom prst="line">
            <a:avLst/>
          </a:prstGeom>
          <a:ln w="19050">
            <a:solidFill>
              <a:srgbClr val="FF9900"/>
            </a:solidFill>
          </a:ln>
        </p:spPr>
      </p:cxnSp>
      <p:sp>
        <p:nvSpPr>
          <p:cNvPr id="7" name="Bullets"/>
          <p:cNvSpPr txBox="1"/>
          <p:nvPr/>
        </p:nvSpPr>
        <p:spPr>
          <a:xfrm>
            <a:off x="650000" y="1350000"/>
            <a:ext cx="4300000" cy="24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Model landscape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Prompt patterns</a:t>
            </a:r>
            <a:endParaRPr lang="en-US" sz="1700" dirty="0"/>
          </a:p>
          <a:p>
            <a:pPr marL="342900" indent="-171450">
              <a:buChar char="•"/>
            </a:pPr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First AI assistant build</a:t>
            </a:r>
            <a:endParaRPr lang="en-US" sz="1700" dirty="0"/>
          </a:p>
        </p:txBody>
      </p:sp>
      <p:sp>
        <p:nvSpPr>
          <p:cNvPr id="8" name="Card 1"/>
          <p:cNvSpPr/>
          <p:nvPr/>
        </p:nvSpPr>
        <p:spPr>
          <a:xfrm>
            <a:off x="62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9" name="Accent 1"/>
          <p:cNvSpPr/>
          <p:nvPr/>
        </p:nvSpPr>
        <p:spPr>
          <a:xfrm>
            <a:off x="74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ard Text 1"/>
          <p:cNvSpPr txBox="1"/>
          <p:nvPr/>
        </p:nvSpPr>
        <p:spPr>
          <a:xfrm>
            <a:off x="80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Model landscape</a:t>
            </a:r>
            <a:endParaRPr lang="en-US" sz="1700" dirty="0"/>
          </a:p>
        </p:txBody>
      </p:sp>
      <p:sp>
        <p:nvSpPr>
          <p:cNvPr id="11" name="Card 2"/>
          <p:cNvSpPr/>
          <p:nvPr/>
        </p:nvSpPr>
        <p:spPr>
          <a:xfrm>
            <a:off x="264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2" name="Accent 2"/>
          <p:cNvSpPr/>
          <p:nvPr/>
        </p:nvSpPr>
        <p:spPr>
          <a:xfrm>
            <a:off x="276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ard Text 2"/>
          <p:cNvSpPr txBox="1"/>
          <p:nvPr/>
        </p:nvSpPr>
        <p:spPr>
          <a:xfrm>
            <a:off x="282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Prompt patterns</a:t>
            </a:r>
            <a:endParaRPr lang="en-US" sz="1700" dirty="0"/>
          </a:p>
        </p:txBody>
      </p:sp>
      <p:sp>
        <p:nvSpPr>
          <p:cNvPr id="14" name="Card 3"/>
          <p:cNvSpPr/>
          <p:nvPr/>
        </p:nvSpPr>
        <p:spPr>
          <a:xfrm>
            <a:off x="4660000" y="1800000"/>
            <a:ext cx="1800000" cy="130000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15" name="Accent 3"/>
          <p:cNvSpPr/>
          <p:nvPr/>
        </p:nvSpPr>
        <p:spPr>
          <a:xfrm>
            <a:off x="4780000" y="1920000"/>
            <a:ext cx="220000" cy="22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Card Text 3"/>
          <p:cNvSpPr txBox="1"/>
          <p:nvPr/>
        </p:nvSpPr>
        <p:spPr>
          <a:xfrm>
            <a:off x="4840000" y="2220000"/>
            <a:ext cx="148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1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First AI assistant build</a:t>
            </a:r>
            <a:endParaRPr lang="en-US" sz="1700" dirty="0"/>
          </a:p>
        </p:txBody>
      </p:sp>
      <p:sp>
        <p:nvSpPr>
          <p:cNvPr id="17" name="Note Cue"/>
          <p:cNvSpPr txBox="1"/>
          <p:nvPr/>
        </p:nvSpPr>
        <p:spPr>
          <a:xfrm>
            <a:off x="600000" y="3950000"/>
            <a:ext cx="380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Presenter note</a:t>
            </a:r>
            <a:endParaRPr lang="en-US" sz="1200" dirty="0"/>
          </a:p>
          <a:p>
            <a:pPr/>
            <a:r>
              <a:rPr lang="en-US" sz="11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Preview the next learning step.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ttom Bar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8624000" y="4943500"/>
            <a:ext cx="26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25</a:t>
            </a:r>
            <a:endParaRPr lang="en-US" sz="1100" dirty="0"/>
          </a:p>
        </p:txBody>
      </p:sp>
      <p:sp>
        <p:nvSpPr>
          <p:cNvPr id="5" name="Hero Circle"/>
          <p:cNvSpPr/>
          <p:nvPr/>
        </p:nvSpPr>
        <p:spPr>
          <a:xfrm>
            <a:off x="6500000" y="850000"/>
            <a:ext cx="1700000" cy="1700000"/>
          </a:xfrm>
          <a:prstGeom prst="ellipse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6" name="Hero Dot"/>
          <p:cNvSpPr/>
          <p:nvPr/>
        </p:nvSpPr>
        <p:spPr>
          <a:xfrm>
            <a:off x="7250000" y="1250000"/>
            <a:ext cx="280000" cy="28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Accent Line"/>
          <p:cNvCxnSpPr/>
          <p:nvPr/>
        </p:nvCxnSpPr>
        <p:spPr>
          <a:xfrm>
            <a:off x="900000" y="1780000"/>
            <a:ext cx="2100000" cy="0"/>
          </a:xfrm>
          <a:prstGeom prst="line">
            <a:avLst/>
          </a:prstGeom>
          <a:ln w="19050">
            <a:solidFill>
              <a:srgbClr val="FF9900"/>
            </a:solidFill>
          </a:ln>
        </p:spPr>
      </p:cxnSp>
      <p:sp>
        <p:nvSpPr>
          <p:cNvPr id="8" name="Title"/>
          <p:cNvSpPr txBox="1"/>
          <p:nvPr/>
        </p:nvSpPr>
        <p:spPr>
          <a:xfrm>
            <a:off x="800000" y="1050000"/>
            <a:ext cx="5400000" cy="9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26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THANK YOU</a:t>
            </a:r>
            <a:endParaRPr lang="en-US" sz="2600" dirty="0"/>
          </a:p>
        </p:txBody>
      </p:sp>
      <p:sp>
        <p:nvSpPr>
          <p:cNvPr id="9" name="Subtitle"/>
          <p:cNvSpPr txBox="1"/>
          <p:nvPr/>
        </p:nvSpPr>
        <p:spPr>
          <a:xfrm>
            <a:off x="820000" y="2050000"/>
            <a:ext cx="4700000" cy="12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Keep experimenting</a:t>
            </a:r>
            <a:endParaRPr lang="en-US" sz="1700" dirty="0"/>
          </a:p>
          <a:p>
            <a:pPr/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Keep reviewing</a:t>
            </a:r>
            <a:endParaRPr lang="en-US" sz="1700" dirty="0"/>
          </a:p>
          <a:p>
            <a:pPr/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Keep improving prompts</a:t>
            </a:r>
            <a:endParaRPr lang="en-US" sz="1700" dirty="0"/>
          </a:p>
        </p:txBody>
      </p:sp>
      <p:sp>
        <p:nvSpPr>
          <p:cNvPr id="10" name="Note Cue"/>
          <p:cNvSpPr txBox="1"/>
          <p:nvPr/>
        </p:nvSpPr>
        <p:spPr>
          <a:xfrm>
            <a:off x="600000" y="3950000"/>
            <a:ext cx="380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Presenter note</a:t>
            </a:r>
            <a:endParaRPr lang="en-US" sz="1200" dirty="0"/>
          </a:p>
          <a:p>
            <a:pPr/>
            <a:r>
              <a:rPr lang="en-US" sz="11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Thank the learners for participating.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ttom Bar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8624000" y="4943500"/>
            <a:ext cx="26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26</a:t>
            </a:r>
            <a:endParaRPr lang="en-US" sz="1100" dirty="0"/>
          </a:p>
        </p:txBody>
      </p:sp>
      <p:sp>
        <p:nvSpPr>
          <p:cNvPr id="5" name="Hero Circle"/>
          <p:cNvSpPr/>
          <p:nvPr/>
        </p:nvSpPr>
        <p:spPr>
          <a:xfrm>
            <a:off x="6500000" y="850000"/>
            <a:ext cx="1700000" cy="1700000"/>
          </a:xfrm>
          <a:prstGeom prst="ellipse">
            <a:avLst/>
          </a:prstGeom>
          <a:solidFill>
            <a:srgbClr val="F7FBFE"/>
          </a:solidFill>
          <a:ln w="12700">
            <a:solidFill>
              <a:srgbClr val="D9E8F2"/>
            </a:solidFill>
          </a:ln>
        </p:spPr>
        <p:txBody>
          <a:bodyPr/>
          <a:lstStyle/>
          <a:p/>
        </p:txBody>
      </p:sp>
      <p:sp>
        <p:nvSpPr>
          <p:cNvPr id="6" name="Hero Dot"/>
          <p:cNvSpPr/>
          <p:nvPr/>
        </p:nvSpPr>
        <p:spPr>
          <a:xfrm>
            <a:off x="7250000" y="1250000"/>
            <a:ext cx="280000" cy="28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Accent Line"/>
          <p:cNvCxnSpPr/>
          <p:nvPr/>
        </p:nvCxnSpPr>
        <p:spPr>
          <a:xfrm>
            <a:off x="900000" y="1780000"/>
            <a:ext cx="2100000" cy="0"/>
          </a:xfrm>
          <a:prstGeom prst="line">
            <a:avLst/>
          </a:prstGeom>
          <a:ln w="19050">
            <a:solidFill>
              <a:srgbClr val="FF9900"/>
            </a:solidFill>
          </a:ln>
        </p:spPr>
      </p:cxnSp>
      <p:sp>
        <p:nvSpPr>
          <p:cNvPr id="8" name="Title"/>
          <p:cNvSpPr txBox="1"/>
          <p:nvPr/>
        </p:nvSpPr>
        <p:spPr>
          <a:xfrm>
            <a:off x="800000" y="1050000"/>
            <a:ext cx="5400000" cy="9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26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ALL THE BEST</a:t>
            </a:r>
            <a:endParaRPr lang="en-US" sz="2600" dirty="0"/>
          </a:p>
        </p:txBody>
      </p:sp>
      <p:sp>
        <p:nvSpPr>
          <p:cNvPr id="9" name="Subtitle"/>
          <p:cNvSpPr txBox="1"/>
          <p:nvPr/>
        </p:nvSpPr>
        <p:spPr>
          <a:xfrm>
            <a:off x="820000" y="2050000"/>
            <a:ext cx="4700000" cy="12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7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See you next session</a:t>
            </a:r>
            <a:endParaRPr lang="en-US" sz="1700" dirty="0"/>
          </a:p>
        </p:txBody>
      </p:sp>
      <p:sp>
        <p:nvSpPr>
          <p:cNvPr id="10" name="Note Cue"/>
          <p:cNvSpPr txBox="1"/>
          <p:nvPr/>
        </p:nvSpPr>
        <p:spPr>
          <a:xfrm>
            <a:off x="600000" y="3950000"/>
            <a:ext cx="3800000" cy="5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200" b="1" dirty="0" smtClean="0">
                <a:solidFill>
                  <a:srgbClr val="006DAF"/>
                </a:solidFill>
                <a:latin typeface="Montserrat"/>
                <a:ea typeface="Montserrat"/>
                <a:cs typeface="Montserrat"/>
              </a:rPr>
              <a:t>Presenter note</a:t>
            </a:r>
            <a:endParaRPr lang="en-US" sz="1200" dirty="0"/>
          </a:p>
          <a:p>
            <a:pPr/>
            <a:r>
              <a:rPr lang="en-US" sz="1100" b="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Use this as the final soft close.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ACP Theme">
  <a:themeElements>
    <a:clrScheme name="OpenACP">
      <a:dk1>
        <a:srgbClr val="000000"/>
      </a:dk1>
      <a:lt1>
        <a:srgbClr val="FFFFFF"/>
      </a:lt1>
      <a:dk2>
        <a:srgbClr val="1F1F1F"/>
      </a:dk2>
      <a:lt2>
        <a:srgbClr val="F7FBFE"/>
      </a:lt2>
      <a:accent1>
        <a:srgbClr val="006DAF"/>
      </a:accent1>
      <a:accent2>
        <a:srgbClr val="FF9900"/>
      </a:accent2>
      <a:accent3>
        <a:srgbClr val="228B22"/>
      </a:accent3>
      <a:accent4>
        <a:srgbClr val="7B8FA1"/>
      </a:accent4>
      <a:accent5>
        <a:srgbClr val="9BB8CD"/>
      </a:accent5>
      <a:accent6>
        <a:srgbClr val="DDEAF2"/>
      </a:accent6>
      <a:hlink>
        <a:srgbClr val="0563C1"/>
      </a:hlink>
      <a:folHlink>
        <a:srgbClr val="954F72"/>
      </a:folHlink>
    </a:clrScheme>
    <a:fontScheme name="OpenACP Fonts">
      <a:majorFont>
        <a:latin typeface="Montserrat"/>
        <a:ea typeface="Montserrat"/>
        <a:cs typeface="Montserrat"/>
      </a:majorFont>
      <a:minorFont>
        <a:latin typeface="Muli"/>
        <a:ea typeface="Muli"/>
        <a:cs typeface="Muli"/>
      </a:minorFont>
    </a:fontScheme>
    <a:fmtScheme name="OpenACP Format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  <PresentationFormat>Widescreen</PresentationFormat>
  <Slides>26</Slides>
  <Notes>0</Notes>
  <HiddenSlides>0</HiddenSlides>
  <MMClips>0</MMClips>
  <ScaleCrop>false</ScaleCrop>
  <Company>OpenACP Sample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Stack Foundations - Session 1A</dc:title>
  <dc:creator>OpenAI Codex</dc:creator>
  <cp:lastModifiedBy>OpenAI Codex</cp:lastModifiedBy>
  <dcterms:created xsi:type="dcterms:W3CDTF">2026-04-15T20:33:13Z</dcterms:created>
  <dcterms:modified xsi:type="dcterms:W3CDTF">2026-04-15T20:33:13Z</dcterms:modified>
</cp:coreProperties>
</file>