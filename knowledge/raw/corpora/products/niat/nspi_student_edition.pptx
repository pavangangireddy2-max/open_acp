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0" r:id="rId4"/>
    <p:sldMasterId id="214748365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0AB4A1A-A49C-4F7A-BEE3-129B1DF94DAF}">
  <a:tblStyle styleId="{70AB4A1A-A49C-4F7A-BEE3-129B1DF94DA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" name="Google Shape;1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ec2d7686b0_0_2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g3ec2d7686b0_0_2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g3ec2d7686b0_0_23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ec2d7686b0_0_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g3ec2d7686b0_0_6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g3ec2d7686b0_0_6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ec2d7686b0_0_2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g3ec2d7686b0_0_28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g3ec2d7686b0_0_28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9" name="Google Shape;30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ec2d7686b0_0_1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3" name="Google Shape;343;g3ec2d7686b0_0_1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g3ec2d7686b0_0_15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ec2d7686b0_0_3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2" name="Google Shape;372;g3ec2d7686b0_0_3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g3ec2d7686b0_0_35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6" name="Google Shape;39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f12bcf558d_2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9" name="Google Shape;419;g3f12bcf558d_2_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g3f12bcf558d_2_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Relationship Id="rId4" Type="http://schemas.openxmlformats.org/officeDocument/2006/relationships/image" Target="../media/image1.png"/><Relationship Id="rId5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3.png"/><Relationship Id="rId6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7.png"/><Relationship Id="rId4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0.png"/><Relationship Id="rId4" Type="http://schemas.openxmlformats.org/officeDocument/2006/relationships/image" Target="../media/image21.png"/><Relationship Id="rId5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Relationship Id="rId4" Type="http://schemas.openxmlformats.org/officeDocument/2006/relationships/image" Target="../media/image9.png"/><Relationship Id="rId5" Type="http://schemas.openxmlformats.org/officeDocument/2006/relationships/image" Target="../media/image24.png"/><Relationship Id="rId6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Relationship Id="rId4" Type="http://schemas.openxmlformats.org/officeDocument/2006/relationships/image" Target="../media/image29.png"/><Relationship Id="rId5" Type="http://schemas.openxmlformats.org/officeDocument/2006/relationships/image" Target="../media/image2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B4B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/>
          <p:nvPr/>
        </p:nvSpPr>
        <p:spPr>
          <a:xfrm>
            <a:off x="447050" y="630615"/>
            <a:ext cx="765600" cy="274200"/>
          </a:xfrm>
          <a:prstGeom prst="roundRect">
            <a:avLst>
              <a:gd fmla="val 50000" name="adj"/>
            </a:avLst>
          </a:prstGeom>
          <a:solidFill>
            <a:srgbClr val="2B29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5"/>
          <p:cNvSpPr/>
          <p:nvPr/>
        </p:nvSpPr>
        <p:spPr>
          <a:xfrm>
            <a:off x="603504" y="630556"/>
            <a:ext cx="2743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NIAT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5"/>
          <p:cNvSpPr/>
          <p:nvPr/>
        </p:nvSpPr>
        <p:spPr>
          <a:xfrm>
            <a:off x="566925" y="1024913"/>
            <a:ext cx="7725000" cy="109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Calibri"/>
              <a:buNone/>
            </a:pPr>
            <a:r>
              <a:rPr b="1" i="1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Introducing </a:t>
            </a:r>
            <a:r>
              <a:rPr b="1" i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i="1"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Calibri"/>
              <a:buNone/>
            </a:pPr>
            <a:r>
              <a:rPr b="1" i="0" lang="en-US" sz="5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NIAT</a:t>
            </a:r>
            <a:r>
              <a:rPr b="1" lang="en-US" sz="5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5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b="1" i="0" lang="en-US" sz="570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SPI</a:t>
            </a:r>
            <a:endParaRPr b="0" i="0" sz="5700" u="none" cap="none" strike="noStrike">
              <a:solidFill>
                <a:srgbClr val="05966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5"/>
          <p:cNvSpPr/>
          <p:nvPr/>
        </p:nvSpPr>
        <p:spPr>
          <a:xfrm>
            <a:off x="603504" y="2194238"/>
            <a:ext cx="5669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900"/>
              <a:buFont typeface="Calibri"/>
              <a:buNone/>
            </a:pPr>
            <a:r>
              <a:rPr b="0" i="0" lang="en-US" sz="19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NIAT Skill Performance Index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5"/>
          <p:cNvSpPr/>
          <p:nvPr/>
        </p:nvSpPr>
        <p:spPr>
          <a:xfrm>
            <a:off x="603500" y="2550750"/>
            <a:ext cx="77250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D8DAF4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D8DAF4"/>
                </a:solidFill>
                <a:latin typeface="Calibri"/>
                <a:ea typeface="Calibri"/>
                <a:cs typeface="Calibri"/>
                <a:sym typeface="Calibri"/>
              </a:rPr>
              <a:t>A skill score that tracks how you learn, how you perform in every assessment, and how </a:t>
            </a:r>
            <a:r>
              <a:rPr lang="en-US">
                <a:solidFill>
                  <a:srgbClr val="D8DAF4"/>
                </a:solidFill>
                <a:latin typeface="Calibri"/>
                <a:ea typeface="Calibri"/>
                <a:cs typeface="Calibri"/>
                <a:sym typeface="Calibri"/>
              </a:rPr>
              <a:t>skill</a:t>
            </a:r>
            <a:r>
              <a:rPr b="0" i="0" lang="en-US" sz="1400" u="none" cap="none" strike="noStrike">
                <a:solidFill>
                  <a:srgbClr val="D8DAF4"/>
                </a:solidFill>
                <a:latin typeface="Calibri"/>
                <a:ea typeface="Calibri"/>
                <a:cs typeface="Calibri"/>
                <a:sym typeface="Calibri"/>
              </a:rPr>
              <a:t>-ready you are.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5"/>
          <p:cNvSpPr/>
          <p:nvPr/>
        </p:nvSpPr>
        <p:spPr>
          <a:xfrm rot="960111">
            <a:off x="-509473" y="3573817"/>
            <a:ext cx="2216795" cy="2172166"/>
          </a:xfrm>
          <a:prstGeom prst="roundRect">
            <a:avLst>
              <a:gd fmla="val 25000" name="adj"/>
            </a:avLst>
          </a:prstGeom>
          <a:solidFill>
            <a:srgbClr val="4F46E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5"/>
          <p:cNvSpPr/>
          <p:nvPr/>
        </p:nvSpPr>
        <p:spPr>
          <a:xfrm rot="960079">
            <a:off x="7774183" y="893857"/>
            <a:ext cx="2111302" cy="1654385"/>
          </a:xfrm>
          <a:prstGeom prst="roundRect">
            <a:avLst>
              <a:gd fmla="val 25000" name="adj"/>
            </a:avLst>
          </a:prstGeom>
          <a:solidFill>
            <a:srgbClr val="4F46E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5"/>
          <p:cNvSpPr/>
          <p:nvPr/>
        </p:nvSpPr>
        <p:spPr>
          <a:xfrm>
            <a:off x="7530128" y="-724175"/>
            <a:ext cx="2485500" cy="2286000"/>
          </a:xfrm>
          <a:prstGeom prst="ellipse">
            <a:avLst/>
          </a:prstGeom>
          <a:solidFill>
            <a:srgbClr val="10B981">
              <a:alpha val="180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D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/>
          <p:nvPr/>
        </p:nvSpPr>
        <p:spPr>
          <a:xfrm>
            <a:off x="548640" y="343119"/>
            <a:ext cx="81381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3C3489"/>
                </a:solidFill>
                <a:latin typeface="Calibri"/>
                <a:ea typeface="Calibri"/>
                <a:cs typeface="Calibri"/>
                <a:sym typeface="Calibri"/>
              </a:rPr>
              <a:t>What is </a:t>
            </a:r>
            <a:r>
              <a:rPr b="1" i="0" lang="en-US" sz="3000" u="none" cap="none" strike="noStrike">
                <a:solidFill>
                  <a:srgbClr val="0F6E56"/>
                </a:solidFill>
                <a:latin typeface="Calibri"/>
                <a:ea typeface="Calibri"/>
                <a:cs typeface="Calibri"/>
                <a:sym typeface="Calibri"/>
              </a:rPr>
              <a:t>SPI</a:t>
            </a:r>
            <a:r>
              <a:rPr b="1" i="0" lang="en-US" sz="3000" u="none" cap="none" strike="noStrike">
                <a:solidFill>
                  <a:srgbClr val="3C3489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b="0" i="0" sz="3000" u="none" cap="none" strike="noStrike">
              <a:solidFill>
                <a:srgbClr val="3C34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6"/>
          <p:cNvSpPr/>
          <p:nvPr/>
        </p:nvSpPr>
        <p:spPr>
          <a:xfrm>
            <a:off x="548640" y="1148904"/>
            <a:ext cx="46176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700"/>
              <a:buFont typeface="Calibri"/>
              <a:buNone/>
            </a:pPr>
            <a:r>
              <a:rPr b="1" lang="en-US" sz="1700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1" i="0" lang="en-US" sz="1700" u="none" cap="none" strike="noStrike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kill score, from 0 to 10.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6"/>
          <p:cNvSpPr/>
          <p:nvPr/>
        </p:nvSpPr>
        <p:spPr>
          <a:xfrm>
            <a:off x="548640" y="1716766"/>
            <a:ext cx="47091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23243A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23243A"/>
                </a:solidFill>
                <a:latin typeface="Calibri"/>
                <a:ea typeface="Calibri"/>
                <a:cs typeface="Calibri"/>
                <a:sym typeface="Calibri"/>
              </a:rPr>
              <a:t>SPI provides a comprehensive view of a learner's engagement, performance, and readiness in each course.</a:t>
            </a:r>
            <a:endParaRPr sz="1350">
              <a:solidFill>
                <a:srgbClr val="2324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23243A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23243A"/>
                </a:solidFill>
                <a:latin typeface="Calibri"/>
                <a:ea typeface="Calibri"/>
                <a:cs typeface="Calibri"/>
                <a:sym typeface="Calibri"/>
              </a:rPr>
              <a:t>It measures your overall progress by evaluating;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6"/>
          <p:cNvSpPr/>
          <p:nvPr/>
        </p:nvSpPr>
        <p:spPr>
          <a:xfrm>
            <a:off x="548640" y="2770031"/>
            <a:ext cx="365700" cy="365700"/>
          </a:xfrm>
          <a:prstGeom prst="roundRect">
            <a:avLst>
              <a:gd fmla="val 25000" name="adj"/>
            </a:avLst>
          </a:prstGeom>
          <a:solidFill>
            <a:srgbClr val="4F46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" name="Google Shape;3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3738" y="2852522"/>
            <a:ext cx="175565" cy="175565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6"/>
          <p:cNvSpPr/>
          <p:nvPr/>
        </p:nvSpPr>
        <p:spPr>
          <a:xfrm>
            <a:off x="1042416" y="2751743"/>
            <a:ext cx="4023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43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3243A"/>
                </a:solidFill>
                <a:latin typeface="Calibri"/>
                <a:ea typeface="Calibri"/>
                <a:cs typeface="Calibri"/>
                <a:sym typeface="Calibri"/>
              </a:rPr>
              <a:t>Continuous learning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6"/>
          <p:cNvSpPr/>
          <p:nvPr/>
        </p:nvSpPr>
        <p:spPr>
          <a:xfrm>
            <a:off x="548640" y="3314502"/>
            <a:ext cx="365700" cy="365700"/>
          </a:xfrm>
          <a:prstGeom prst="roundRect">
            <a:avLst>
              <a:gd fmla="val 25000" name="adj"/>
            </a:avLst>
          </a:prstGeom>
          <a:solidFill>
            <a:srgbClr val="4F46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" name="Google Shape;3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3738" y="3409600"/>
            <a:ext cx="175565" cy="17556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6"/>
          <p:cNvSpPr/>
          <p:nvPr/>
        </p:nvSpPr>
        <p:spPr>
          <a:xfrm>
            <a:off x="1042416" y="3296214"/>
            <a:ext cx="4023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43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3243A"/>
                </a:solidFill>
                <a:latin typeface="Calibri"/>
                <a:ea typeface="Calibri"/>
                <a:cs typeface="Calibri"/>
                <a:sym typeface="Calibri"/>
              </a:rPr>
              <a:t>Assessment participation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6"/>
          <p:cNvSpPr/>
          <p:nvPr/>
        </p:nvSpPr>
        <p:spPr>
          <a:xfrm>
            <a:off x="548640" y="3836147"/>
            <a:ext cx="365700" cy="365700"/>
          </a:xfrm>
          <a:prstGeom prst="roundRect">
            <a:avLst>
              <a:gd fmla="val 2500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3738" y="3931245"/>
            <a:ext cx="175565" cy="175565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6"/>
          <p:cNvSpPr/>
          <p:nvPr/>
        </p:nvSpPr>
        <p:spPr>
          <a:xfrm>
            <a:off x="1042416" y="3817859"/>
            <a:ext cx="4023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43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3243A"/>
                </a:solidFill>
                <a:latin typeface="Calibri"/>
                <a:ea typeface="Calibri"/>
                <a:cs typeface="Calibri"/>
                <a:sym typeface="Calibri"/>
              </a:rPr>
              <a:t>Skill mastery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6"/>
          <p:cNvSpPr/>
          <p:nvPr/>
        </p:nvSpPr>
        <p:spPr>
          <a:xfrm>
            <a:off x="5532120" y="1093936"/>
            <a:ext cx="3063300" cy="3108900"/>
          </a:xfrm>
          <a:prstGeom prst="roundRect">
            <a:avLst>
              <a:gd fmla="val 4776" name="adj"/>
            </a:avLst>
          </a:prstGeom>
          <a:solidFill>
            <a:srgbClr val="FFFFFF"/>
          </a:solidFill>
          <a:ln cap="flat" cmpd="sng" w="12700">
            <a:solidFill>
              <a:srgbClr val="E6E7F2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38100">
              <a:srgbClr val="5B5E7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6"/>
          <p:cNvSpPr/>
          <p:nvPr/>
        </p:nvSpPr>
        <p:spPr>
          <a:xfrm>
            <a:off x="5532120" y="1817341"/>
            <a:ext cx="3063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YOUR </a:t>
            </a:r>
            <a:r>
              <a:rPr b="1" lang="en-US" sz="1150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SPI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6"/>
          <p:cNvSpPr/>
          <p:nvPr/>
        </p:nvSpPr>
        <p:spPr>
          <a:xfrm>
            <a:off x="6355080" y="2298150"/>
            <a:ext cx="1417200" cy="141720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6"/>
          <p:cNvSpPr/>
          <p:nvPr/>
        </p:nvSpPr>
        <p:spPr>
          <a:xfrm>
            <a:off x="6547104" y="2490174"/>
            <a:ext cx="1033200" cy="1033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6"/>
          <p:cNvSpPr/>
          <p:nvPr/>
        </p:nvSpPr>
        <p:spPr>
          <a:xfrm>
            <a:off x="6355080" y="2744149"/>
            <a:ext cx="14172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2500"/>
              <a:buFont typeface="Calibri"/>
              <a:buNone/>
            </a:pPr>
            <a:r>
              <a:rPr b="1" i="0" lang="en-US" sz="2500" u="none" cap="none" strike="noStrike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0–10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6"/>
          <p:cNvSpPr/>
          <p:nvPr/>
        </p:nvSpPr>
        <p:spPr>
          <a:xfrm>
            <a:off x="8138160" y="486460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718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E7186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6"/>
          <p:cNvSpPr txBox="1"/>
          <p:nvPr/>
        </p:nvSpPr>
        <p:spPr>
          <a:xfrm>
            <a:off x="456350" y="4452825"/>
            <a:ext cx="54840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23243A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23243A"/>
                </a:solidFill>
                <a:latin typeface="Calibri"/>
                <a:ea typeface="Calibri"/>
                <a:cs typeface="Calibri"/>
                <a:sym typeface="Calibri"/>
              </a:rPr>
              <a:t>Each course has its own SPI.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D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/>
          <p:nvPr/>
        </p:nvSpPr>
        <p:spPr>
          <a:xfrm>
            <a:off x="566928" y="420624"/>
            <a:ext cx="8046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ASSESSMENTS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7"/>
          <p:cNvSpPr/>
          <p:nvPr/>
        </p:nvSpPr>
        <p:spPr>
          <a:xfrm>
            <a:off x="548640" y="694944"/>
            <a:ext cx="81381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3C3489"/>
                </a:solidFill>
                <a:latin typeface="Calibri"/>
                <a:ea typeface="Calibri"/>
                <a:cs typeface="Calibri"/>
                <a:sym typeface="Calibri"/>
              </a:rPr>
              <a:t>How You'll Be </a:t>
            </a:r>
            <a:r>
              <a:rPr b="1" i="0" lang="en-US" sz="3000" u="none" cap="none" strike="noStrike">
                <a:solidFill>
                  <a:srgbClr val="0E9E68"/>
                </a:solidFill>
                <a:latin typeface="Calibri"/>
                <a:ea typeface="Calibri"/>
                <a:cs typeface="Calibri"/>
                <a:sym typeface="Calibri"/>
              </a:rPr>
              <a:t>Assessed</a:t>
            </a:r>
            <a:endParaRPr b="0" i="0" sz="3000" u="none" cap="none" strike="noStrike">
              <a:solidFill>
                <a:srgbClr val="0E9E6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7"/>
          <p:cNvSpPr/>
          <p:nvPr/>
        </p:nvSpPr>
        <p:spPr>
          <a:xfrm>
            <a:off x="548640" y="146304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43A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23243A"/>
                </a:solidFill>
                <a:latin typeface="Calibri"/>
                <a:ea typeface="Calibri"/>
                <a:cs typeface="Calibri"/>
                <a:sym typeface="Calibri"/>
              </a:rPr>
              <a:t>Four checkpoints keep your learning on track — building from a single </a:t>
            </a:r>
            <a:r>
              <a:rPr lang="en-US" sz="1350">
                <a:solidFill>
                  <a:srgbClr val="23243A"/>
                </a:solidFill>
                <a:latin typeface="Calibri"/>
                <a:ea typeface="Calibri"/>
                <a:cs typeface="Calibri"/>
                <a:sym typeface="Calibri"/>
              </a:rPr>
              <a:t>course</a:t>
            </a:r>
            <a:r>
              <a:rPr b="0" i="0" lang="en-US" sz="1350" u="none" cap="none" strike="noStrike">
                <a:solidFill>
                  <a:srgbClr val="23243A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7"/>
          <p:cNvSpPr/>
          <p:nvPr/>
        </p:nvSpPr>
        <p:spPr>
          <a:xfrm>
            <a:off x="548640" y="2011680"/>
            <a:ext cx="1947672" cy="2331720"/>
          </a:xfrm>
          <a:prstGeom prst="roundRect">
            <a:avLst>
              <a:gd fmla="val 6573" name="adj"/>
            </a:avLst>
          </a:prstGeom>
          <a:solidFill>
            <a:srgbClr val="FFFFFF"/>
          </a:solidFill>
          <a:ln cap="flat" cmpd="sng" w="12700">
            <a:solidFill>
              <a:srgbClr val="E6E7F2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38100">
              <a:srgbClr val="5B5E7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7"/>
          <p:cNvSpPr/>
          <p:nvPr/>
        </p:nvSpPr>
        <p:spPr>
          <a:xfrm>
            <a:off x="1220724" y="2249424"/>
            <a:ext cx="603504" cy="603504"/>
          </a:xfrm>
          <a:prstGeom prst="roundRect">
            <a:avLst>
              <a:gd fmla="val 28000" name="adj"/>
            </a:avLst>
          </a:prstGeom>
          <a:solidFill>
            <a:srgbClr val="4F46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0" name="Google Shape;6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7635" y="2406335"/>
            <a:ext cx="289682" cy="289682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7"/>
          <p:cNvSpPr/>
          <p:nvPr/>
        </p:nvSpPr>
        <p:spPr>
          <a:xfrm>
            <a:off x="2039112" y="2176272"/>
            <a:ext cx="310896" cy="310896"/>
          </a:xfrm>
          <a:prstGeom prst="ellipse">
            <a:avLst/>
          </a:prstGeom>
          <a:solidFill>
            <a:srgbClr val="EEF0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7"/>
          <p:cNvSpPr/>
          <p:nvPr/>
        </p:nvSpPr>
        <p:spPr>
          <a:xfrm>
            <a:off x="2039112" y="2176272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7"/>
          <p:cNvSpPr/>
          <p:nvPr/>
        </p:nvSpPr>
        <p:spPr>
          <a:xfrm>
            <a:off x="658375" y="2962652"/>
            <a:ext cx="17283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Classroom Quizzes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7"/>
          <p:cNvSpPr/>
          <p:nvPr/>
        </p:nvSpPr>
        <p:spPr>
          <a:xfrm>
            <a:off x="1038758" y="3456432"/>
            <a:ext cx="967435" cy="274320"/>
          </a:xfrm>
          <a:prstGeom prst="roundRect">
            <a:avLst>
              <a:gd fmla="val 50000" name="adj"/>
            </a:avLst>
          </a:prstGeom>
          <a:solidFill>
            <a:srgbClr val="EEF0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7"/>
          <p:cNvSpPr/>
          <p:nvPr/>
        </p:nvSpPr>
        <p:spPr>
          <a:xfrm>
            <a:off x="1038758" y="3456432"/>
            <a:ext cx="96743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2 per topic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7"/>
          <p:cNvSpPr/>
          <p:nvPr/>
        </p:nvSpPr>
        <p:spPr>
          <a:xfrm>
            <a:off x="676656" y="3803904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43A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23243A"/>
                </a:solidFill>
                <a:latin typeface="Calibri"/>
                <a:ea typeface="Calibri"/>
                <a:cs typeface="Calibri"/>
                <a:sym typeface="Calibri"/>
              </a:rPr>
              <a:t>Checks topic-level clarity.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7"/>
          <p:cNvSpPr/>
          <p:nvPr/>
        </p:nvSpPr>
        <p:spPr>
          <a:xfrm>
            <a:off x="2660904" y="2011680"/>
            <a:ext cx="1947672" cy="2331720"/>
          </a:xfrm>
          <a:prstGeom prst="roundRect">
            <a:avLst>
              <a:gd fmla="val 6573" name="adj"/>
            </a:avLst>
          </a:prstGeom>
          <a:solidFill>
            <a:srgbClr val="FFFFFF"/>
          </a:solidFill>
          <a:ln cap="flat" cmpd="sng" w="12700">
            <a:solidFill>
              <a:srgbClr val="E6E7F2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38100">
              <a:srgbClr val="5B5E7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7"/>
          <p:cNvSpPr/>
          <p:nvPr/>
        </p:nvSpPr>
        <p:spPr>
          <a:xfrm>
            <a:off x="3332988" y="2249424"/>
            <a:ext cx="603504" cy="603504"/>
          </a:xfrm>
          <a:prstGeom prst="roundRect">
            <a:avLst>
              <a:gd fmla="val 28000" name="adj"/>
            </a:avLst>
          </a:pr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9" name="Google Shape;6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89899" y="2406335"/>
            <a:ext cx="289682" cy="289682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7"/>
          <p:cNvSpPr/>
          <p:nvPr/>
        </p:nvSpPr>
        <p:spPr>
          <a:xfrm>
            <a:off x="4151376" y="2176272"/>
            <a:ext cx="310896" cy="310896"/>
          </a:xfrm>
          <a:prstGeom prst="ellipse">
            <a:avLst/>
          </a:prstGeom>
          <a:solidFill>
            <a:srgbClr val="EEF0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7"/>
          <p:cNvSpPr/>
          <p:nvPr/>
        </p:nvSpPr>
        <p:spPr>
          <a:xfrm>
            <a:off x="4151376" y="2176272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7"/>
          <p:cNvSpPr/>
          <p:nvPr/>
        </p:nvSpPr>
        <p:spPr>
          <a:xfrm>
            <a:off x="2770632" y="2962656"/>
            <a:ext cx="172821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Module Quizzes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7"/>
          <p:cNvSpPr/>
          <p:nvPr/>
        </p:nvSpPr>
        <p:spPr>
          <a:xfrm>
            <a:off x="3044038" y="3456432"/>
            <a:ext cx="1181405" cy="274320"/>
          </a:xfrm>
          <a:prstGeom prst="roundRect">
            <a:avLst>
              <a:gd fmla="val 50000" name="adj"/>
            </a:avLst>
          </a:prstGeom>
          <a:solidFill>
            <a:srgbClr val="EEF0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/>
          <p:nvPr/>
        </p:nvSpPr>
        <p:spPr>
          <a:xfrm>
            <a:off x="3044038" y="3456432"/>
            <a:ext cx="118140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every 3 topics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7"/>
          <p:cNvSpPr/>
          <p:nvPr/>
        </p:nvSpPr>
        <p:spPr>
          <a:xfrm>
            <a:off x="2788920" y="3803904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43A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23243A"/>
                </a:solidFill>
                <a:latin typeface="Calibri"/>
                <a:ea typeface="Calibri"/>
                <a:cs typeface="Calibri"/>
                <a:sym typeface="Calibri"/>
              </a:rPr>
              <a:t>Apply concepts across a module.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7"/>
          <p:cNvSpPr/>
          <p:nvPr/>
        </p:nvSpPr>
        <p:spPr>
          <a:xfrm>
            <a:off x="4773168" y="2011680"/>
            <a:ext cx="1947672" cy="2331720"/>
          </a:xfrm>
          <a:prstGeom prst="roundRect">
            <a:avLst>
              <a:gd fmla="val 6573" name="adj"/>
            </a:avLst>
          </a:prstGeom>
          <a:solidFill>
            <a:srgbClr val="FFFFFF"/>
          </a:solidFill>
          <a:ln cap="flat" cmpd="sng" w="12700">
            <a:solidFill>
              <a:srgbClr val="E6E7F2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38100">
              <a:srgbClr val="5B5E7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7"/>
          <p:cNvSpPr/>
          <p:nvPr/>
        </p:nvSpPr>
        <p:spPr>
          <a:xfrm>
            <a:off x="5445252" y="2249424"/>
            <a:ext cx="603504" cy="603504"/>
          </a:xfrm>
          <a:prstGeom prst="roundRect">
            <a:avLst>
              <a:gd fmla="val 2800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8" name="Google Shape;78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02163" y="2406335"/>
            <a:ext cx="289682" cy="289682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7"/>
          <p:cNvSpPr/>
          <p:nvPr/>
        </p:nvSpPr>
        <p:spPr>
          <a:xfrm>
            <a:off x="6263640" y="2176272"/>
            <a:ext cx="310896" cy="310896"/>
          </a:xfrm>
          <a:prstGeom prst="ellipse">
            <a:avLst/>
          </a:prstGeom>
          <a:solidFill>
            <a:srgbClr val="EEF0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7"/>
          <p:cNvSpPr/>
          <p:nvPr/>
        </p:nvSpPr>
        <p:spPr>
          <a:xfrm>
            <a:off x="6263640" y="2176272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7"/>
          <p:cNvSpPr/>
          <p:nvPr/>
        </p:nvSpPr>
        <p:spPr>
          <a:xfrm>
            <a:off x="4882896" y="2962656"/>
            <a:ext cx="172821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Skill Assessments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7"/>
          <p:cNvSpPr/>
          <p:nvPr/>
        </p:nvSpPr>
        <p:spPr>
          <a:xfrm>
            <a:off x="5191963" y="3456432"/>
            <a:ext cx="1110082" cy="274320"/>
          </a:xfrm>
          <a:prstGeom prst="roundRect">
            <a:avLst>
              <a:gd fmla="val 50000" name="adj"/>
            </a:avLst>
          </a:prstGeom>
          <a:solidFill>
            <a:srgbClr val="EEF0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7"/>
          <p:cNvSpPr/>
          <p:nvPr/>
        </p:nvSpPr>
        <p:spPr>
          <a:xfrm>
            <a:off x="5191963" y="3456432"/>
            <a:ext cx="111008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every 15-30 days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7"/>
          <p:cNvSpPr/>
          <p:nvPr/>
        </p:nvSpPr>
        <p:spPr>
          <a:xfrm>
            <a:off x="4901184" y="3803904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43A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23243A"/>
                </a:solidFill>
                <a:latin typeface="Calibri"/>
                <a:ea typeface="Calibri"/>
                <a:cs typeface="Calibri"/>
                <a:sym typeface="Calibri"/>
              </a:rPr>
              <a:t>Speed, accuracy &amp; retention.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7"/>
          <p:cNvSpPr/>
          <p:nvPr/>
        </p:nvSpPr>
        <p:spPr>
          <a:xfrm>
            <a:off x="6885432" y="2011680"/>
            <a:ext cx="1947672" cy="2331720"/>
          </a:xfrm>
          <a:prstGeom prst="roundRect">
            <a:avLst>
              <a:gd fmla="val 6573" name="adj"/>
            </a:avLst>
          </a:prstGeom>
          <a:solidFill>
            <a:srgbClr val="FFFFFF"/>
          </a:solidFill>
          <a:ln cap="flat" cmpd="sng" w="12700">
            <a:solidFill>
              <a:srgbClr val="E6E7F2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38100">
              <a:srgbClr val="5B5E7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7"/>
          <p:cNvSpPr/>
          <p:nvPr/>
        </p:nvSpPr>
        <p:spPr>
          <a:xfrm>
            <a:off x="7557516" y="2249424"/>
            <a:ext cx="603504" cy="603504"/>
          </a:xfrm>
          <a:prstGeom prst="roundRect">
            <a:avLst>
              <a:gd fmla="val 28000" name="adj"/>
            </a:avLst>
          </a:prstGeom>
          <a:solidFill>
            <a:srgbClr val="1E1B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7" name="Google Shape;87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4427" y="2406335"/>
            <a:ext cx="289682" cy="289682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7"/>
          <p:cNvSpPr/>
          <p:nvPr/>
        </p:nvSpPr>
        <p:spPr>
          <a:xfrm>
            <a:off x="8375904" y="2176272"/>
            <a:ext cx="310896" cy="310896"/>
          </a:xfrm>
          <a:prstGeom prst="ellipse">
            <a:avLst/>
          </a:prstGeom>
          <a:solidFill>
            <a:srgbClr val="EEF0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7"/>
          <p:cNvSpPr/>
          <p:nvPr/>
        </p:nvSpPr>
        <p:spPr>
          <a:xfrm>
            <a:off x="8375904" y="2176272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7"/>
          <p:cNvSpPr/>
          <p:nvPr/>
        </p:nvSpPr>
        <p:spPr>
          <a:xfrm>
            <a:off x="6995160" y="2962656"/>
            <a:ext cx="172821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Final</a:t>
            </a:r>
            <a:r>
              <a:rPr b="1" i="0" lang="en-US" sz="1250" u="none" cap="none" strike="noStrik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 Skill </a:t>
            </a:r>
            <a:r>
              <a:rPr b="1" lang="en-US" sz="1250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Assessment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7"/>
          <p:cNvSpPr/>
          <p:nvPr/>
        </p:nvSpPr>
        <p:spPr>
          <a:xfrm>
            <a:off x="7411212" y="3456432"/>
            <a:ext cx="896112" cy="274320"/>
          </a:xfrm>
          <a:prstGeom prst="roundRect">
            <a:avLst>
              <a:gd fmla="val 50000" name="adj"/>
            </a:avLst>
          </a:prstGeom>
          <a:solidFill>
            <a:srgbClr val="EEF0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7"/>
          <p:cNvSpPr/>
          <p:nvPr/>
        </p:nvSpPr>
        <p:spPr>
          <a:xfrm>
            <a:off x="7411212" y="3456432"/>
            <a:ext cx="8961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once </a:t>
            </a:r>
            <a:r>
              <a:rPr b="1" lang="en-US" sz="1000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(End of the course)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7"/>
          <p:cNvSpPr/>
          <p:nvPr/>
        </p:nvSpPr>
        <p:spPr>
          <a:xfrm>
            <a:off x="7013448" y="3803904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43A"/>
              </a:buClr>
              <a:buSzPts val="1080"/>
              <a:buFont typeface="Calibri"/>
              <a:buNone/>
            </a:pPr>
            <a:r>
              <a:rPr lang="en-US" sz="1080">
                <a:solidFill>
                  <a:srgbClr val="23243A"/>
                </a:solidFill>
                <a:latin typeface="Calibri"/>
                <a:ea typeface="Calibri"/>
                <a:cs typeface="Calibri"/>
                <a:sym typeface="Calibri"/>
              </a:rPr>
              <a:t>Full </a:t>
            </a:r>
            <a:r>
              <a:rPr b="0" i="0" lang="en-US" sz="1080" u="none" cap="none" strike="noStrike">
                <a:solidFill>
                  <a:srgbClr val="23243A"/>
                </a:solidFill>
                <a:latin typeface="Calibri"/>
                <a:ea typeface="Calibri"/>
                <a:cs typeface="Calibri"/>
                <a:sym typeface="Calibri"/>
              </a:rPr>
              <a:t>skill readiness.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7"/>
          <p:cNvSpPr/>
          <p:nvPr/>
        </p:nvSpPr>
        <p:spPr>
          <a:xfrm>
            <a:off x="548640" y="486460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186"/>
              </a:buClr>
              <a:buSzPts val="850"/>
              <a:buFont typeface="Calibri"/>
              <a:buNone/>
            </a:pPr>
            <a:r>
              <a:t/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8138160" y="486460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718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E7186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sz="850">
                <a:solidFill>
                  <a:srgbClr val="6E7186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D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8"/>
          <p:cNvSpPr/>
          <p:nvPr/>
        </p:nvSpPr>
        <p:spPr>
          <a:xfrm>
            <a:off x="566928" y="420624"/>
            <a:ext cx="8046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SPI Calculation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8"/>
          <p:cNvSpPr/>
          <p:nvPr/>
        </p:nvSpPr>
        <p:spPr>
          <a:xfrm>
            <a:off x="548640" y="694944"/>
            <a:ext cx="81381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Different </a:t>
            </a:r>
            <a:r>
              <a:rPr b="1" lang="en-US" sz="3000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Assessments </a:t>
            </a:r>
            <a:r>
              <a:rPr b="1" lang="en-US" sz="3000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Involved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8"/>
          <p:cNvSpPr/>
          <p:nvPr/>
        </p:nvSpPr>
        <p:spPr>
          <a:xfrm>
            <a:off x="548640" y="1463040"/>
            <a:ext cx="4297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3243A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23243A"/>
                </a:solidFill>
                <a:latin typeface="Calibri"/>
                <a:ea typeface="Calibri"/>
                <a:cs typeface="Calibri"/>
                <a:sym typeface="Calibri"/>
              </a:rPr>
              <a:t>Each assessment carries a weight. The </a:t>
            </a:r>
            <a:r>
              <a:rPr lang="en-US" sz="1350">
                <a:solidFill>
                  <a:srgbClr val="23243A"/>
                </a:solidFill>
                <a:latin typeface="Calibri"/>
                <a:ea typeface="Calibri"/>
                <a:cs typeface="Calibri"/>
                <a:sym typeface="Calibri"/>
              </a:rPr>
              <a:t>Final Skill Assessment</a:t>
            </a:r>
            <a:r>
              <a:rPr b="0" i="0" lang="en-US" sz="1350" u="none" cap="none" strike="noStrike">
                <a:solidFill>
                  <a:srgbClr val="23243A"/>
                </a:solidFill>
                <a:latin typeface="Calibri"/>
                <a:ea typeface="Calibri"/>
                <a:cs typeface="Calibri"/>
                <a:sym typeface="Calibri"/>
              </a:rPr>
              <a:t> matters most.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8"/>
          <p:cNvSpPr/>
          <p:nvPr/>
        </p:nvSpPr>
        <p:spPr>
          <a:xfrm>
            <a:off x="566928" y="2139696"/>
            <a:ext cx="292608" cy="292608"/>
          </a:xfrm>
          <a:prstGeom prst="roundRect">
            <a:avLst>
              <a:gd fmla="val 21875" name="adj"/>
            </a:avLst>
          </a:prstGeom>
          <a:solidFill>
            <a:srgbClr val="C7CB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8"/>
          <p:cNvSpPr/>
          <p:nvPr/>
        </p:nvSpPr>
        <p:spPr>
          <a:xfrm>
            <a:off x="950976" y="2121408"/>
            <a:ext cx="28346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43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3243A"/>
                </a:solidFill>
                <a:latin typeface="Calibri"/>
                <a:ea typeface="Calibri"/>
                <a:cs typeface="Calibri"/>
                <a:sym typeface="Calibri"/>
              </a:rPr>
              <a:t>Classroom Quizzes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8"/>
          <p:cNvSpPr/>
          <p:nvPr/>
        </p:nvSpPr>
        <p:spPr>
          <a:xfrm>
            <a:off x="3703320" y="2121408"/>
            <a:ext cx="777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10%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8"/>
          <p:cNvSpPr/>
          <p:nvPr/>
        </p:nvSpPr>
        <p:spPr>
          <a:xfrm>
            <a:off x="566928" y="2596896"/>
            <a:ext cx="292608" cy="292608"/>
          </a:xfrm>
          <a:prstGeom prst="roundRect">
            <a:avLst>
              <a:gd fmla="val 21875" name="adj"/>
            </a:avLst>
          </a:prstGeom>
          <a:solidFill>
            <a:srgbClr val="9098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8"/>
          <p:cNvSpPr/>
          <p:nvPr/>
        </p:nvSpPr>
        <p:spPr>
          <a:xfrm>
            <a:off x="950976" y="2578608"/>
            <a:ext cx="28346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43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3243A"/>
                </a:solidFill>
                <a:latin typeface="Calibri"/>
                <a:ea typeface="Calibri"/>
                <a:cs typeface="Calibri"/>
                <a:sym typeface="Calibri"/>
              </a:rPr>
              <a:t>Module Quizzes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8"/>
          <p:cNvSpPr/>
          <p:nvPr/>
        </p:nvSpPr>
        <p:spPr>
          <a:xfrm>
            <a:off x="3703320" y="2578608"/>
            <a:ext cx="777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15%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8"/>
          <p:cNvSpPr/>
          <p:nvPr/>
        </p:nvSpPr>
        <p:spPr>
          <a:xfrm>
            <a:off x="566928" y="3054096"/>
            <a:ext cx="292608" cy="292608"/>
          </a:xfrm>
          <a:prstGeom prst="roundRect">
            <a:avLst>
              <a:gd fmla="val 21875" name="adj"/>
            </a:avLst>
          </a:prstGeom>
          <a:solidFill>
            <a:srgbClr val="4F46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8"/>
          <p:cNvSpPr/>
          <p:nvPr/>
        </p:nvSpPr>
        <p:spPr>
          <a:xfrm>
            <a:off x="950976" y="3035808"/>
            <a:ext cx="28346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43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3243A"/>
                </a:solidFill>
                <a:latin typeface="Calibri"/>
                <a:ea typeface="Calibri"/>
                <a:cs typeface="Calibri"/>
                <a:sym typeface="Calibri"/>
              </a:rPr>
              <a:t>Skill Assessment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8"/>
          <p:cNvSpPr/>
          <p:nvPr/>
        </p:nvSpPr>
        <p:spPr>
          <a:xfrm>
            <a:off x="3703320" y="3035808"/>
            <a:ext cx="777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25%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8"/>
          <p:cNvSpPr/>
          <p:nvPr/>
        </p:nvSpPr>
        <p:spPr>
          <a:xfrm>
            <a:off x="566928" y="3511296"/>
            <a:ext cx="292608" cy="292608"/>
          </a:xfrm>
          <a:prstGeom prst="roundRect">
            <a:avLst>
              <a:gd fmla="val 21875" name="adj"/>
            </a:avLst>
          </a:prstGeom>
          <a:solidFill>
            <a:srgbClr val="1E1B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8"/>
          <p:cNvSpPr/>
          <p:nvPr/>
        </p:nvSpPr>
        <p:spPr>
          <a:xfrm>
            <a:off x="950976" y="3493008"/>
            <a:ext cx="28346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43A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23243A"/>
                </a:solidFill>
                <a:latin typeface="Calibri"/>
                <a:ea typeface="Calibri"/>
                <a:cs typeface="Calibri"/>
                <a:sym typeface="Calibri"/>
              </a:rPr>
              <a:t>Final Skill Assessment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8"/>
          <p:cNvSpPr/>
          <p:nvPr/>
        </p:nvSpPr>
        <p:spPr>
          <a:xfrm>
            <a:off x="3703320" y="3493008"/>
            <a:ext cx="777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50%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8"/>
          <p:cNvSpPr/>
          <p:nvPr/>
        </p:nvSpPr>
        <p:spPr>
          <a:xfrm>
            <a:off x="566928" y="3968496"/>
            <a:ext cx="3931920" cy="658368"/>
          </a:xfrm>
          <a:prstGeom prst="roundRect">
            <a:avLst>
              <a:gd fmla="val 16667" name="adj"/>
            </a:avLst>
          </a:prstGeom>
          <a:solidFill>
            <a:srgbClr val="EAF7F1"/>
          </a:solidFill>
          <a:ln cap="flat" cmpd="sng" w="12700">
            <a:solidFill>
              <a:srgbClr val="CDEBDD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38100">
              <a:srgbClr val="5B5E7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8"/>
          <p:cNvSpPr/>
          <p:nvPr/>
        </p:nvSpPr>
        <p:spPr>
          <a:xfrm>
            <a:off x="731520" y="4123944"/>
            <a:ext cx="365760" cy="365760"/>
          </a:xfrm>
          <a:prstGeom prst="roundRect">
            <a:avLst>
              <a:gd fmla="val 2800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8" name="Google Shape;11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6618" y="4219042"/>
            <a:ext cx="175565" cy="175565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8"/>
          <p:cNvSpPr/>
          <p:nvPr/>
        </p:nvSpPr>
        <p:spPr>
          <a:xfrm>
            <a:off x="1243584" y="3968496"/>
            <a:ext cx="31546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You should get 50% in each Assessment Component</a:t>
            </a:r>
            <a:r>
              <a:rPr b="1" i="0" lang="en-US" sz="125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1250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to get SPI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" name="Google Shape;12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37760" y="1755648"/>
            <a:ext cx="3657600" cy="288036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8"/>
          <p:cNvSpPr/>
          <p:nvPr/>
        </p:nvSpPr>
        <p:spPr>
          <a:xfrm>
            <a:off x="5897880" y="2761488"/>
            <a:ext cx="1737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2500"/>
              <a:buFont typeface="Calibri"/>
              <a:buNone/>
            </a:pPr>
            <a:r>
              <a:rPr b="1" i="0" lang="en-US" sz="2500" u="none" cap="none" strike="noStrik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50%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7186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6E7186"/>
                </a:solidFill>
                <a:latin typeface="Calibri"/>
                <a:ea typeface="Calibri"/>
                <a:cs typeface="Calibri"/>
                <a:sym typeface="Calibri"/>
              </a:rPr>
              <a:t>Final Skill Assessment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8"/>
          <p:cNvSpPr/>
          <p:nvPr/>
        </p:nvSpPr>
        <p:spPr>
          <a:xfrm>
            <a:off x="8138160" y="486460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718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E7186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sz="850">
                <a:solidFill>
                  <a:srgbClr val="6E7186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D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"/>
          <p:cNvSpPr/>
          <p:nvPr/>
        </p:nvSpPr>
        <p:spPr>
          <a:xfrm>
            <a:off x="566925" y="377719"/>
            <a:ext cx="7268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SKILL LEVELS AND POINTS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9"/>
          <p:cNvSpPr/>
          <p:nvPr/>
        </p:nvSpPr>
        <p:spPr>
          <a:xfrm>
            <a:off x="548640" y="566228"/>
            <a:ext cx="81381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Level</a:t>
            </a:r>
            <a:r>
              <a:rPr b="1" i="0" lang="en-US" sz="3000" u="none" cap="none" strike="noStrik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, Points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0" name="Google Shape;130;p9"/>
          <p:cNvGraphicFramePr/>
          <p:nvPr/>
        </p:nvGraphicFramePr>
        <p:xfrm>
          <a:off x="1013131" y="121955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{70AB4A1A-A49C-4F7A-BEE3-129B1DF94DAF}</a:tableStyleId>
              </a:tblPr>
              <a:tblGrid>
                <a:gridCol w="1597575"/>
                <a:gridCol w="749375"/>
                <a:gridCol w="1173475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Score % Range</a:t>
                      </a:r>
                      <a:endParaRPr sz="1200" u="none" cap="none" strike="noStrike"/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F7F8F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7F8F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7F8F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7F8F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>
                          <a:solidFill>
                            <a:srgbClr val="FFFFFF"/>
                          </a:solidFill>
                        </a:rPr>
                        <a:t>Level</a:t>
                      </a:r>
                      <a:endParaRPr sz="1200" u="none" cap="none" strike="noStrike"/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F7F8F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7F8F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7F8F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7F8F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Points Earned</a:t>
                      </a:r>
                      <a:endParaRPr sz="1200" u="none" cap="none" strike="noStrike"/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F7F8F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7F8F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7F8F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7F8F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B4B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43A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23243A"/>
                          </a:solidFill>
                        </a:rPr>
                        <a:t>90 – 100</a:t>
                      </a:r>
                      <a:endParaRPr sz="1150" u="none" cap="none" strike="noStrike"/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F7F8F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7F8F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7F8F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7F8F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</a:rPr>
                        <a:t>A+</a:t>
                      </a:r>
                      <a:endParaRPr sz="1300" u="none" cap="none" strike="noStrike"/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F7F8F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7F8F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7F8F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7F8F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B4B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1E1B4B"/>
                          </a:solidFill>
                        </a:rPr>
                        <a:t>10</a:t>
                      </a:r>
                      <a:endParaRPr sz="1150" u="none" cap="none" strike="noStrike"/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F7F8F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7F8F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7F8F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7F8F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43A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23243A"/>
                          </a:solidFill>
                        </a:rPr>
                        <a:t>80 – 89.99</a:t>
                      </a:r>
                      <a:endParaRPr sz="1150" u="none" cap="none" strike="noStrike"/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F7F8F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7F8F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7F8F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7F8F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2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</a:rPr>
                        <a:t>A</a:t>
                      </a:r>
                      <a:endParaRPr sz="1300" u="none" cap="none" strike="noStrike"/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F7F8F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7F8F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7F8F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7F8F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B4B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1E1B4B"/>
                          </a:solidFill>
                        </a:rPr>
                        <a:t>9</a:t>
                      </a:r>
                      <a:endParaRPr sz="1150" u="none" cap="none" strike="noStrike"/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F7F8F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7F8F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7F8F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7F8F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2F9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43A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23243A"/>
                          </a:solidFill>
                        </a:rPr>
                        <a:t>70 – 79.99</a:t>
                      </a:r>
                      <a:endParaRPr sz="1150" u="none" cap="none" strike="noStrike"/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F7F8F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7F8F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7F8F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7F8F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</a:rPr>
                        <a:t>B</a:t>
                      </a:r>
                      <a:endParaRPr sz="1300" u="none" cap="none" strike="noStrike"/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F7F8F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7F8F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7F8F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7F8F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B4B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1E1B4B"/>
                          </a:solidFill>
                        </a:rPr>
                        <a:t>8</a:t>
                      </a:r>
                      <a:endParaRPr sz="1150" u="none" cap="none" strike="noStrike"/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F7F8F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7F8F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7F8F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7F8F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43A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23243A"/>
                          </a:solidFill>
                        </a:rPr>
                        <a:t>60 – 69.99</a:t>
                      </a:r>
                      <a:endParaRPr sz="1150" u="none" cap="none" strike="noStrike"/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F7F8F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7F8F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7F8F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7F8F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2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</a:rPr>
                        <a:t>C</a:t>
                      </a:r>
                      <a:endParaRPr sz="1300" u="none" cap="none" strike="noStrike"/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F7F8F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7F8F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7F8F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7F8F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B4B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1E1B4B"/>
                          </a:solidFill>
                        </a:rPr>
                        <a:t>7</a:t>
                      </a:r>
                      <a:endParaRPr sz="1150" u="none" cap="none" strike="noStrike"/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F7F8F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7F8F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7F8F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7F8F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2F9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43A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23243A"/>
                          </a:solidFill>
                        </a:rPr>
                        <a:t>50 – 59.99</a:t>
                      </a:r>
                      <a:endParaRPr sz="1150" u="none" cap="none" strike="noStrike"/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F7F8F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7F8F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7F8F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7F8F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B4B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E1B4B"/>
                          </a:solidFill>
                        </a:rPr>
                        <a:t>D</a:t>
                      </a:r>
                      <a:endParaRPr sz="1300" u="none" cap="none" strike="noStrike"/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F7F8F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7F8F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7F8F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7F8F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B4B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1E1B4B"/>
                          </a:solidFill>
                        </a:rPr>
                        <a:t>6</a:t>
                      </a:r>
                      <a:endParaRPr sz="1150" u="none" cap="none" strike="noStrike"/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F7F8F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7F8F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7F8F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7F8F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43A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23243A"/>
                          </a:solidFill>
                        </a:rPr>
                        <a:t>Below 50</a:t>
                      </a:r>
                      <a:endParaRPr sz="1150" u="none" cap="none" strike="noStrike"/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F7F8F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7F8F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7F8F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7F8F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2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</a:rPr>
                        <a:t>F</a:t>
                      </a:r>
                      <a:endParaRPr sz="1300" u="none" cap="none" strike="noStrike"/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F7F8F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7F8F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7F8F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7F8F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3F5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B4B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1E1B4B"/>
                          </a:solidFill>
                        </a:rPr>
                        <a:t>0</a:t>
                      </a:r>
                      <a:endParaRPr sz="1150" u="none" cap="none" strike="noStrike"/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F7F8F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7F8F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7F8F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7F8F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2F9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43A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23243A"/>
                          </a:solidFill>
                        </a:rPr>
                        <a:t>Absent</a:t>
                      </a:r>
                      <a:endParaRPr sz="1150" u="none" cap="none" strike="noStrike"/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F7F8F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7F8F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7F8F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7F8F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</a:rPr>
                        <a:t>Ab</a:t>
                      </a:r>
                      <a:endParaRPr sz="1300" u="none" cap="none" strike="noStrike"/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F7F8F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7F8F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7F8F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7F8F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123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B4B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1E1B4B"/>
                          </a:solidFill>
                        </a:rPr>
                        <a:t>0</a:t>
                      </a:r>
                      <a:endParaRPr sz="1150" u="none" cap="none" strike="noStrike"/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F7F8F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7F8F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7F8F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7F8F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1" name="Google Shape;131;p9"/>
          <p:cNvSpPr/>
          <p:nvPr/>
        </p:nvSpPr>
        <p:spPr>
          <a:xfrm>
            <a:off x="548640" y="486460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186"/>
              </a:buClr>
              <a:buSzPts val="850"/>
              <a:buFont typeface="Calibri"/>
              <a:buNone/>
            </a:pPr>
            <a:r>
              <a:t/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9"/>
          <p:cNvSpPr/>
          <p:nvPr/>
        </p:nvSpPr>
        <p:spPr>
          <a:xfrm>
            <a:off x="5490819" y="1733189"/>
            <a:ext cx="3134100" cy="2181600"/>
          </a:xfrm>
          <a:prstGeom prst="roundRect">
            <a:avLst>
              <a:gd fmla="val 16667" name="adj"/>
            </a:avLst>
          </a:prstGeom>
          <a:solidFill>
            <a:srgbClr val="1E1B4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381000" marR="38100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6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9"/>
          <p:cNvSpPr/>
          <p:nvPr/>
        </p:nvSpPr>
        <p:spPr>
          <a:xfrm>
            <a:off x="8138160" y="486460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718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E7186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sz="850">
                <a:solidFill>
                  <a:srgbClr val="6E7186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9"/>
          <p:cNvSpPr/>
          <p:nvPr/>
        </p:nvSpPr>
        <p:spPr>
          <a:xfrm>
            <a:off x="5484275" y="1709500"/>
            <a:ext cx="3012000" cy="2086800"/>
          </a:xfrm>
          <a:prstGeom prst="roundRect">
            <a:avLst>
              <a:gd fmla="val 16667" name="adj"/>
            </a:avLst>
          </a:prstGeom>
          <a:solidFill>
            <a:srgbClr val="0F6E5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381000" marR="38100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Your score in every assessments maps to a skill level — and each level earns you points that build your </a:t>
            </a:r>
            <a:r>
              <a:rPr b="1" lang="en-US" sz="16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SPI</a:t>
            </a:r>
            <a:r>
              <a:rPr lang="en-US" sz="16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6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D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0"/>
          <p:cNvSpPr/>
          <p:nvPr/>
        </p:nvSpPr>
        <p:spPr>
          <a:xfrm>
            <a:off x="8150767" y="4877215"/>
            <a:ext cx="457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7186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6E7186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0"/>
          <p:cNvSpPr/>
          <p:nvPr/>
        </p:nvSpPr>
        <p:spPr>
          <a:xfrm>
            <a:off x="566928" y="384048"/>
            <a:ext cx="7315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4FD6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5B4FD6"/>
                </a:solidFill>
                <a:latin typeface="Calibri"/>
                <a:ea typeface="Calibri"/>
                <a:cs typeface="Calibri"/>
                <a:sym typeface="Calibri"/>
              </a:rPr>
              <a:t>SCORING · STEP 1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0"/>
          <p:cNvSpPr/>
          <p:nvPr/>
        </p:nvSpPr>
        <p:spPr>
          <a:xfrm>
            <a:off x="548640" y="640080"/>
            <a:ext cx="81381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SPI </a:t>
            </a:r>
            <a:r>
              <a:rPr b="1" lang="en-US" sz="3000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(Course Score)</a:t>
            </a:r>
            <a:endParaRPr b="1" sz="3000">
              <a:solidFill>
                <a:srgbClr val="0E9E6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0"/>
          <p:cNvSpPr/>
          <p:nvPr/>
        </p:nvSpPr>
        <p:spPr>
          <a:xfrm>
            <a:off x="548640" y="1188720"/>
            <a:ext cx="8046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43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3243A"/>
                </a:solidFill>
                <a:latin typeface="Calibri"/>
                <a:ea typeface="Calibri"/>
                <a:cs typeface="Calibri"/>
                <a:sym typeface="Calibri"/>
              </a:rPr>
              <a:t>Each </a:t>
            </a:r>
            <a:r>
              <a:rPr lang="en-US" sz="1300">
                <a:solidFill>
                  <a:srgbClr val="23243A"/>
                </a:solidFill>
                <a:latin typeface="Calibri"/>
                <a:ea typeface="Calibri"/>
                <a:cs typeface="Calibri"/>
                <a:sym typeface="Calibri"/>
              </a:rPr>
              <a:t>course</a:t>
            </a:r>
            <a:r>
              <a:rPr b="0" i="0" lang="en-US" sz="1300" u="none" cap="none" strike="noStrike">
                <a:solidFill>
                  <a:srgbClr val="23243A"/>
                </a:solidFill>
                <a:latin typeface="Calibri"/>
                <a:ea typeface="Calibri"/>
                <a:cs typeface="Calibri"/>
                <a:sym typeface="Calibri"/>
              </a:rPr>
              <a:t>'s score blends four assessments — the </a:t>
            </a:r>
            <a:r>
              <a:rPr lang="en-US" sz="1300">
                <a:solidFill>
                  <a:srgbClr val="23243A"/>
                </a:solidFill>
                <a:latin typeface="Calibri"/>
                <a:ea typeface="Calibri"/>
                <a:cs typeface="Calibri"/>
                <a:sym typeface="Calibri"/>
              </a:rPr>
              <a:t>Final Skill Assessment</a:t>
            </a:r>
            <a:r>
              <a:rPr b="0" i="0" lang="en-US" sz="1300" u="none" cap="none" strike="noStrike">
                <a:solidFill>
                  <a:srgbClr val="23243A"/>
                </a:solidFill>
                <a:latin typeface="Calibri"/>
                <a:ea typeface="Calibri"/>
                <a:cs typeface="Calibri"/>
                <a:sym typeface="Calibri"/>
              </a:rPr>
              <a:t> carries the most weight.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0"/>
          <p:cNvSpPr/>
          <p:nvPr/>
        </p:nvSpPr>
        <p:spPr>
          <a:xfrm>
            <a:off x="548640" y="1591056"/>
            <a:ext cx="55779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Example — Back End Development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5" name="Google Shape;145;p10"/>
          <p:cNvGraphicFramePr/>
          <p:nvPr/>
        </p:nvGraphicFramePr>
        <p:xfrm>
          <a:off x="548640" y="18470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{70AB4A1A-A49C-4F7A-BEE3-129B1DF94DAF}</a:tableStyleId>
              </a:tblPr>
              <a:tblGrid>
                <a:gridCol w="2651750"/>
                <a:gridCol w="914400"/>
                <a:gridCol w="914400"/>
                <a:gridCol w="1097275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</a:rPr>
                        <a:t>Assessment</a:t>
                      </a:r>
                      <a:endParaRPr sz="1150" u="none" cap="none" strike="noStrike"/>
                    </a:p>
                  </a:txBody>
                  <a:tcPr marT="25400" marB="25400" marR="88900" marL="88900" anchor="ctr">
                    <a:lnL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</a:rPr>
                        <a:t>Your avg</a:t>
                      </a:r>
                      <a:endParaRPr sz="1150" u="none" cap="none" strike="noStrike"/>
                    </a:p>
                  </a:txBody>
                  <a:tcPr marT="25400" marB="25400" marR="88900" marL="88900" anchor="ctr">
                    <a:lnL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</a:rPr>
                        <a:t>Weightage</a:t>
                      </a:r>
                      <a:endParaRPr sz="1150" u="none" cap="none" strike="noStrike"/>
                    </a:p>
                  </a:txBody>
                  <a:tcPr marT="25400" marB="25400" marR="88900" marL="88900" anchor="ctr">
                    <a:lnL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>
                          <a:solidFill>
                            <a:srgbClr val="FFFFFF"/>
                          </a:solidFill>
                        </a:rPr>
                        <a:t>Score</a:t>
                      </a:r>
                      <a:endParaRPr sz="1150" u="none" cap="none" strike="noStrike"/>
                    </a:p>
                  </a:txBody>
                  <a:tcPr marT="25400" marB="25400" marR="88900" marL="88900" anchor="ctr">
                    <a:lnL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B4B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43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3243A"/>
                          </a:solidFill>
                        </a:rPr>
                        <a:t>Classroom Quizzes</a:t>
                      </a:r>
                      <a:endParaRPr sz="1100" u="none" cap="none" strike="noStrike"/>
                    </a:p>
                  </a:txBody>
                  <a:tcPr marT="25400" marB="25400" marR="88900" marL="88900" anchor="ctr">
                    <a:lnL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43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3243A"/>
                          </a:solidFill>
                        </a:rPr>
                        <a:t>80</a:t>
                      </a:r>
                      <a:endParaRPr sz="1100" u="none" cap="none" strike="noStrike"/>
                    </a:p>
                  </a:txBody>
                  <a:tcPr marT="25400" marB="25400" marR="88900" marL="88900" anchor="ctr">
                    <a:lnL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43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3243A"/>
                          </a:solidFill>
                        </a:rPr>
                        <a:t>10%</a:t>
                      </a:r>
                      <a:endParaRPr sz="1100" u="none" cap="none" strike="noStrike"/>
                    </a:p>
                  </a:txBody>
                  <a:tcPr marT="25400" marB="25400" marR="88900" marL="88900" anchor="ctr">
                    <a:lnL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F46E5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4F46E5"/>
                          </a:solidFill>
                        </a:rPr>
                        <a:t>8</a:t>
                      </a:r>
                      <a:endParaRPr sz="1100" u="none" cap="none" strike="noStrike"/>
                    </a:p>
                  </a:txBody>
                  <a:tcPr marT="25400" marB="25400" marR="88900" marL="88900" anchor="ctr">
                    <a:lnL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43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3243A"/>
                          </a:solidFill>
                        </a:rPr>
                        <a:t>Module Quizzes</a:t>
                      </a:r>
                      <a:endParaRPr sz="1100" u="none" cap="none" strike="noStrike"/>
                    </a:p>
                  </a:txBody>
                  <a:tcPr marT="25400" marB="25400" marR="88900" marL="88900" anchor="ctr">
                    <a:lnL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2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43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3243A"/>
                          </a:solidFill>
                        </a:rPr>
                        <a:t>80</a:t>
                      </a:r>
                      <a:endParaRPr sz="1100" u="none" cap="none" strike="noStrike"/>
                    </a:p>
                  </a:txBody>
                  <a:tcPr marT="25400" marB="25400" marR="88900" marL="88900" anchor="ctr">
                    <a:lnL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2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43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3243A"/>
                          </a:solidFill>
                        </a:rPr>
                        <a:t>15%</a:t>
                      </a:r>
                      <a:endParaRPr sz="1100" u="none" cap="none" strike="noStrike"/>
                    </a:p>
                  </a:txBody>
                  <a:tcPr marT="25400" marB="25400" marR="88900" marL="88900" anchor="ctr">
                    <a:lnL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2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F46E5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4F46E5"/>
                          </a:solidFill>
                        </a:rPr>
                        <a:t>12</a:t>
                      </a:r>
                      <a:endParaRPr sz="1100" u="none" cap="none" strike="noStrike"/>
                    </a:p>
                  </a:txBody>
                  <a:tcPr marT="25400" marB="25400" marR="88900" marL="88900" anchor="ctr">
                    <a:lnL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2F9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43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3243A"/>
                          </a:solidFill>
                        </a:rPr>
                        <a:t>Skill Assessment</a:t>
                      </a:r>
                      <a:endParaRPr sz="1100" u="none" cap="none" strike="noStrike"/>
                    </a:p>
                  </a:txBody>
                  <a:tcPr marT="25400" marB="25400" marR="88900" marL="88900" anchor="ctr">
                    <a:lnL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43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3243A"/>
                          </a:solidFill>
                        </a:rPr>
                        <a:t>72</a:t>
                      </a:r>
                      <a:endParaRPr sz="1100" u="none" cap="none" strike="noStrike"/>
                    </a:p>
                  </a:txBody>
                  <a:tcPr marT="25400" marB="25400" marR="88900" marL="88900" anchor="ctr">
                    <a:lnL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43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3243A"/>
                          </a:solidFill>
                        </a:rPr>
                        <a:t>25%</a:t>
                      </a:r>
                      <a:endParaRPr sz="1100" u="none" cap="none" strike="noStrike"/>
                    </a:p>
                  </a:txBody>
                  <a:tcPr marT="25400" marB="25400" marR="88900" marL="88900" anchor="ctr">
                    <a:lnL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F46E5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4F46E5"/>
                          </a:solidFill>
                        </a:rPr>
                        <a:t>18</a:t>
                      </a:r>
                      <a:endParaRPr sz="1100" u="none" cap="none" strike="noStrike"/>
                    </a:p>
                  </a:txBody>
                  <a:tcPr marT="25400" marB="25400" marR="88900" marL="88900" anchor="ctr">
                    <a:lnL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43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>
                          <a:solidFill>
                            <a:srgbClr val="23243A"/>
                          </a:solidFill>
                        </a:rPr>
                        <a:t>Final Skill Assessment</a:t>
                      </a:r>
                      <a:endParaRPr sz="1100" u="none" cap="none" strike="noStrike"/>
                    </a:p>
                  </a:txBody>
                  <a:tcPr marT="25400" marB="25400" marR="88900" marL="88900" anchor="ctr">
                    <a:lnL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2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43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3243A"/>
                          </a:solidFill>
                        </a:rPr>
                        <a:t>88</a:t>
                      </a:r>
                      <a:endParaRPr sz="1100" u="none" cap="none" strike="noStrike"/>
                    </a:p>
                  </a:txBody>
                  <a:tcPr marT="25400" marB="25400" marR="88900" marL="88900" anchor="ctr">
                    <a:lnL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2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43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3243A"/>
                          </a:solidFill>
                        </a:rPr>
                        <a:t>50%</a:t>
                      </a:r>
                      <a:endParaRPr sz="1100" u="none" cap="none" strike="noStrike"/>
                    </a:p>
                  </a:txBody>
                  <a:tcPr marT="25400" marB="25400" marR="88900" marL="88900" anchor="ctr">
                    <a:lnL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2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F46E5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4F46E5"/>
                          </a:solidFill>
                        </a:rPr>
                        <a:t>44</a:t>
                      </a:r>
                      <a:endParaRPr sz="1100" u="none" cap="none" strike="noStrike"/>
                    </a:p>
                  </a:txBody>
                  <a:tcPr marT="25400" marB="25400" marR="88900" marL="88900" anchor="ctr">
                    <a:lnL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2F9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</a:rPr>
                        <a:t>Skill Track Score</a:t>
                      </a:r>
                      <a:endParaRPr sz="1150" u="none" cap="none" strike="noStrike"/>
                    </a:p>
                  </a:txBody>
                  <a:tcPr marT="25400" marB="25400" marR="88900" marL="88900" anchor="ctr">
                    <a:lnL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Calibri"/>
                        <a:buNone/>
                      </a:pPr>
                      <a:r>
                        <a:t/>
                      </a:r>
                      <a:endParaRPr sz="1150" u="none" cap="none" strike="noStrike"/>
                    </a:p>
                  </a:txBody>
                  <a:tcPr marT="25400" marB="25400" marR="88900" marL="88900" anchor="ctr">
                    <a:lnL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</a:rPr>
                        <a:t>100%</a:t>
                      </a:r>
                      <a:endParaRPr sz="1150" u="none" cap="none" strike="noStrike"/>
                    </a:p>
                  </a:txBody>
                  <a:tcPr marT="25400" marB="25400" marR="88900" marL="88900" anchor="ctr">
                    <a:lnL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</a:rPr>
                        <a:t>82</a:t>
                      </a:r>
                      <a:endParaRPr sz="1150" u="none" cap="none" strike="noStrike"/>
                    </a:p>
                  </a:txBody>
                  <a:tcPr marT="25400" marB="25400" marR="88900" marL="88900" anchor="ctr">
                    <a:lnL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B4B"/>
                    </a:solidFill>
                  </a:tcPr>
                </a:tc>
              </a:tr>
            </a:tbl>
          </a:graphicData>
        </a:graphic>
      </p:graphicFrame>
      <p:sp>
        <p:nvSpPr>
          <p:cNvPr id="146" name="Google Shape;146;p10"/>
          <p:cNvSpPr/>
          <p:nvPr/>
        </p:nvSpPr>
        <p:spPr>
          <a:xfrm>
            <a:off x="6309360" y="1847088"/>
            <a:ext cx="2286000" cy="219450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12700">
            <a:solidFill>
              <a:srgbClr val="E6E7F2"/>
            </a:solidFill>
            <a:prstDash val="solid"/>
            <a:round/>
            <a:headEnd len="sm" w="sm" type="none"/>
            <a:tailEnd len="sm" w="sm" type="none"/>
          </a:ln>
          <a:effectLst>
            <a:outerShdw blurRad="139700" rotWithShape="0" algn="bl" dir="5400000" dist="38100">
              <a:srgbClr val="5B5E7A">
                <a:alpha val="1098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0"/>
          <p:cNvSpPr/>
          <p:nvPr/>
        </p:nvSpPr>
        <p:spPr>
          <a:xfrm>
            <a:off x="6309360" y="1993392"/>
            <a:ext cx="2286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SKILL TRACK SCORE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0"/>
          <p:cNvSpPr/>
          <p:nvPr/>
        </p:nvSpPr>
        <p:spPr>
          <a:xfrm>
            <a:off x="6309360" y="2176272"/>
            <a:ext cx="2286000" cy="67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4600"/>
              <a:buFont typeface="Calibri"/>
              <a:buNone/>
            </a:pPr>
            <a:r>
              <a:rPr b="1" i="0" lang="en-US" sz="4600" u="none" cap="none" strike="noStrike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82</a:t>
            </a:r>
            <a:endParaRPr b="0" i="0" sz="4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0"/>
          <p:cNvSpPr/>
          <p:nvPr/>
        </p:nvSpPr>
        <p:spPr>
          <a:xfrm>
            <a:off x="6309360" y="2852928"/>
            <a:ext cx="2286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718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E7186"/>
                </a:solidFill>
                <a:latin typeface="Calibri"/>
                <a:ea typeface="Calibri"/>
                <a:cs typeface="Calibri"/>
                <a:sym typeface="Calibri"/>
              </a:rPr>
              <a:t>out of 100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0"/>
          <p:cNvSpPr/>
          <p:nvPr/>
        </p:nvSpPr>
        <p:spPr>
          <a:xfrm>
            <a:off x="6583680" y="3127248"/>
            <a:ext cx="1737300" cy="11100"/>
          </a:xfrm>
          <a:prstGeom prst="rect">
            <a:avLst/>
          </a:prstGeom>
          <a:solidFill>
            <a:srgbClr val="E6E7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0"/>
          <p:cNvSpPr/>
          <p:nvPr/>
        </p:nvSpPr>
        <p:spPr>
          <a:xfrm>
            <a:off x="6612941" y="3218688"/>
            <a:ext cx="1678800" cy="274200"/>
          </a:xfrm>
          <a:prstGeom prst="roundRect">
            <a:avLst>
              <a:gd fmla="val 5000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0"/>
          <p:cNvSpPr/>
          <p:nvPr/>
        </p:nvSpPr>
        <p:spPr>
          <a:xfrm>
            <a:off x="6612941" y="3218688"/>
            <a:ext cx="167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LEVEL</a:t>
            </a: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A · 9 points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0"/>
          <p:cNvSpPr/>
          <p:nvPr/>
        </p:nvSpPr>
        <p:spPr>
          <a:xfrm>
            <a:off x="6528816" y="3547872"/>
            <a:ext cx="18471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6E7186"/>
              </a:buClr>
              <a:buSzPts val="980"/>
              <a:buFont typeface="Calibri"/>
              <a:buNone/>
            </a:pPr>
            <a:r>
              <a:rPr b="0" i="1" lang="en-US" sz="980" u="none" cap="none" strike="noStrike">
                <a:solidFill>
                  <a:srgbClr val="6E7186"/>
                </a:solidFill>
                <a:latin typeface="Calibri"/>
                <a:ea typeface="Calibri"/>
                <a:cs typeface="Calibri"/>
                <a:sym typeface="Calibri"/>
              </a:rPr>
              <a:t>The 50% </a:t>
            </a:r>
            <a:r>
              <a:rPr i="1" lang="en-US" sz="980">
                <a:solidFill>
                  <a:srgbClr val="6E7186"/>
                </a:solidFill>
                <a:latin typeface="Calibri"/>
                <a:ea typeface="Calibri"/>
                <a:cs typeface="Calibri"/>
                <a:sym typeface="Calibri"/>
              </a:rPr>
              <a:t>Final Skill Assessment</a:t>
            </a:r>
            <a:r>
              <a:rPr b="0" i="1" lang="en-US" sz="980" u="none" cap="none" strike="noStrike">
                <a:solidFill>
                  <a:srgbClr val="6E7186"/>
                </a:solidFill>
                <a:latin typeface="Calibri"/>
                <a:ea typeface="Calibri"/>
                <a:cs typeface="Calibri"/>
                <a:sym typeface="Calibri"/>
              </a:rPr>
              <a:t> moves your score the most.</a:t>
            </a:r>
            <a:endParaRPr b="0" i="0" sz="98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0"/>
          <p:cNvSpPr/>
          <p:nvPr/>
        </p:nvSpPr>
        <p:spPr>
          <a:xfrm>
            <a:off x="548640" y="4224528"/>
            <a:ext cx="8046600" cy="457200"/>
          </a:xfrm>
          <a:prstGeom prst="roundRect">
            <a:avLst>
              <a:gd fmla="val 24000" name="adj"/>
            </a:avLst>
          </a:prstGeom>
          <a:solidFill>
            <a:srgbClr val="EEF0FB"/>
          </a:solidFill>
          <a:ln cap="flat" cmpd="sng" w="12700">
            <a:solidFill>
              <a:srgbClr val="DADD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0"/>
          <p:cNvSpPr/>
          <p:nvPr/>
        </p:nvSpPr>
        <p:spPr>
          <a:xfrm>
            <a:off x="713232" y="4297680"/>
            <a:ext cx="310800" cy="310800"/>
          </a:xfrm>
          <a:prstGeom prst="roundRect">
            <a:avLst>
              <a:gd fmla="val 28000" name="adj"/>
            </a:avLst>
          </a:prstGeom>
          <a:solidFill>
            <a:srgbClr val="4F46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6" name="Google Shape;15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7174" y="4381622"/>
            <a:ext cx="143012" cy="143012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0"/>
          <p:cNvSpPr/>
          <p:nvPr/>
        </p:nvSpPr>
        <p:spPr>
          <a:xfrm>
            <a:off x="1188720" y="4224528"/>
            <a:ext cx="726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Skill Track Score = </a:t>
            </a:r>
            <a:r>
              <a:rPr b="0" i="0" lang="en-US" sz="1150" u="none" cap="none" strike="noStrike">
                <a:solidFill>
                  <a:srgbClr val="23243A"/>
                </a:solidFill>
                <a:latin typeface="Calibri"/>
                <a:ea typeface="Calibri"/>
                <a:cs typeface="Calibri"/>
                <a:sym typeface="Calibri"/>
              </a:rPr>
              <a:t>(Quizzes × 10%) + (Module Quizzes × 15%) + (Skill Assessment × 25%) + (</a:t>
            </a:r>
            <a:r>
              <a:rPr lang="en-US" sz="1150">
                <a:solidFill>
                  <a:srgbClr val="23243A"/>
                </a:solidFill>
                <a:latin typeface="Calibri"/>
                <a:ea typeface="Calibri"/>
                <a:cs typeface="Calibri"/>
                <a:sym typeface="Calibri"/>
              </a:rPr>
              <a:t>Final Skill Assessment</a:t>
            </a:r>
            <a:r>
              <a:rPr b="0" i="0" lang="en-US" sz="1150" u="none" cap="none" strike="noStrike">
                <a:solidFill>
                  <a:srgbClr val="23243A"/>
                </a:solidFill>
                <a:latin typeface="Calibri"/>
                <a:ea typeface="Calibri"/>
                <a:cs typeface="Calibri"/>
                <a:sym typeface="Calibri"/>
              </a:rPr>
              <a:t> × 50%)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D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1"/>
          <p:cNvSpPr/>
          <p:nvPr/>
        </p:nvSpPr>
        <p:spPr>
          <a:xfrm>
            <a:off x="1973140" y="4660755"/>
            <a:ext cx="8046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186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1"/>
          <p:cNvSpPr/>
          <p:nvPr/>
        </p:nvSpPr>
        <p:spPr>
          <a:xfrm>
            <a:off x="8138160" y="4864608"/>
            <a:ext cx="457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718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E7186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sz="850">
                <a:solidFill>
                  <a:srgbClr val="6E7186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1"/>
          <p:cNvSpPr/>
          <p:nvPr/>
        </p:nvSpPr>
        <p:spPr>
          <a:xfrm>
            <a:off x="566928" y="402336"/>
            <a:ext cx="7315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4FD6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5B4FD6"/>
                </a:solidFill>
                <a:latin typeface="Calibri"/>
                <a:ea typeface="Calibri"/>
                <a:cs typeface="Calibri"/>
                <a:sym typeface="Calibri"/>
              </a:rPr>
              <a:t>Weightage calculation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1"/>
          <p:cNvSpPr/>
          <p:nvPr/>
        </p:nvSpPr>
        <p:spPr>
          <a:xfrm>
            <a:off x="548640" y="658368"/>
            <a:ext cx="81381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9E68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0E9E68"/>
                </a:solidFill>
                <a:latin typeface="Calibri"/>
                <a:ea typeface="Calibri"/>
                <a:cs typeface="Calibri"/>
                <a:sym typeface="Calibri"/>
              </a:rPr>
              <a:t>Courses</a:t>
            </a:r>
            <a:r>
              <a:rPr b="1" i="0" lang="en-US" sz="3000" u="none" cap="none" strike="noStrike">
                <a:solidFill>
                  <a:srgbClr val="0E9E6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3000" u="none" cap="none" strike="noStrik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&amp; Weights</a:t>
            </a:r>
            <a:endParaRPr b="0" i="0" sz="3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1"/>
          <p:cNvSpPr/>
          <p:nvPr/>
        </p:nvSpPr>
        <p:spPr>
          <a:xfrm>
            <a:off x="548650" y="1298450"/>
            <a:ext cx="7861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3243A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23243A"/>
                </a:solidFill>
                <a:latin typeface="Calibri"/>
                <a:ea typeface="Calibri"/>
                <a:cs typeface="Calibri"/>
                <a:sym typeface="Calibri"/>
              </a:rPr>
              <a:t>The below are the courses and their weights in this skill cycle</a:t>
            </a:r>
            <a:endParaRPr sz="1350">
              <a:solidFill>
                <a:srgbClr val="2324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1"/>
          <p:cNvSpPr/>
          <p:nvPr/>
        </p:nvSpPr>
        <p:spPr>
          <a:xfrm>
            <a:off x="2183260" y="1613527"/>
            <a:ext cx="5212200" cy="2578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39700" rotWithShape="0" algn="bl" dir="5400000" dist="38100">
              <a:srgbClr val="5B5E7A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1"/>
          <p:cNvSpPr/>
          <p:nvPr/>
        </p:nvSpPr>
        <p:spPr>
          <a:xfrm>
            <a:off x="2190550" y="1613528"/>
            <a:ext cx="5212200" cy="4023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1"/>
          <p:cNvSpPr/>
          <p:nvPr/>
        </p:nvSpPr>
        <p:spPr>
          <a:xfrm>
            <a:off x="2355142" y="1613528"/>
            <a:ext cx="35205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Course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1"/>
          <p:cNvSpPr/>
          <p:nvPr/>
        </p:nvSpPr>
        <p:spPr>
          <a:xfrm>
            <a:off x="5985310" y="1613528"/>
            <a:ext cx="14172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Weights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1"/>
          <p:cNvSpPr/>
          <p:nvPr/>
        </p:nvSpPr>
        <p:spPr>
          <a:xfrm>
            <a:off x="2190550" y="2015864"/>
            <a:ext cx="5212200" cy="310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6E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1"/>
          <p:cNvSpPr/>
          <p:nvPr/>
        </p:nvSpPr>
        <p:spPr>
          <a:xfrm>
            <a:off x="2373430" y="2015864"/>
            <a:ext cx="34746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243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3243A"/>
                </a:solidFill>
                <a:latin typeface="Calibri"/>
                <a:ea typeface="Calibri"/>
                <a:cs typeface="Calibri"/>
                <a:sym typeface="Calibri"/>
              </a:rPr>
              <a:t>Back End Development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1"/>
          <p:cNvSpPr/>
          <p:nvPr/>
        </p:nvSpPr>
        <p:spPr>
          <a:xfrm>
            <a:off x="6465370" y="2052440"/>
            <a:ext cx="457200" cy="237600"/>
          </a:xfrm>
          <a:prstGeom prst="roundRect">
            <a:avLst>
              <a:gd fmla="val 50000" name="adj"/>
            </a:avLst>
          </a:prstGeom>
          <a:solidFill>
            <a:srgbClr val="EEF0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1"/>
          <p:cNvSpPr/>
          <p:nvPr/>
        </p:nvSpPr>
        <p:spPr>
          <a:xfrm>
            <a:off x="6465370" y="2052440"/>
            <a:ext cx="4572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1"/>
          <p:cNvSpPr/>
          <p:nvPr/>
        </p:nvSpPr>
        <p:spPr>
          <a:xfrm>
            <a:off x="2190550" y="2326760"/>
            <a:ext cx="5212200" cy="310800"/>
          </a:xfrm>
          <a:prstGeom prst="rect">
            <a:avLst/>
          </a:prstGeom>
          <a:solidFill>
            <a:srgbClr val="F4F5FB"/>
          </a:solidFill>
          <a:ln cap="flat" cmpd="sng" w="9525">
            <a:solidFill>
              <a:srgbClr val="E6E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1"/>
          <p:cNvSpPr/>
          <p:nvPr/>
        </p:nvSpPr>
        <p:spPr>
          <a:xfrm>
            <a:off x="2373430" y="2326760"/>
            <a:ext cx="34746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243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3243A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1"/>
          <p:cNvSpPr/>
          <p:nvPr/>
        </p:nvSpPr>
        <p:spPr>
          <a:xfrm>
            <a:off x="6465370" y="2363336"/>
            <a:ext cx="457200" cy="237600"/>
          </a:xfrm>
          <a:prstGeom prst="roundRect">
            <a:avLst>
              <a:gd fmla="val 50000" name="adj"/>
            </a:avLst>
          </a:prstGeom>
          <a:solidFill>
            <a:srgbClr val="EEF0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1"/>
          <p:cNvSpPr/>
          <p:nvPr/>
        </p:nvSpPr>
        <p:spPr>
          <a:xfrm>
            <a:off x="6465370" y="2363336"/>
            <a:ext cx="4572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1"/>
          <p:cNvSpPr/>
          <p:nvPr/>
        </p:nvSpPr>
        <p:spPr>
          <a:xfrm>
            <a:off x="2190550" y="2637656"/>
            <a:ext cx="5212200" cy="310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6E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1"/>
          <p:cNvSpPr/>
          <p:nvPr/>
        </p:nvSpPr>
        <p:spPr>
          <a:xfrm>
            <a:off x="2373430" y="2637656"/>
            <a:ext cx="34746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243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3243A"/>
                </a:solidFill>
                <a:latin typeface="Calibri"/>
                <a:ea typeface="Calibri"/>
                <a:cs typeface="Calibri"/>
                <a:sym typeface="Calibri"/>
              </a:rPr>
              <a:t>AI for Finance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1"/>
          <p:cNvSpPr/>
          <p:nvPr/>
        </p:nvSpPr>
        <p:spPr>
          <a:xfrm>
            <a:off x="6465370" y="2674232"/>
            <a:ext cx="457200" cy="237600"/>
          </a:xfrm>
          <a:prstGeom prst="roundRect">
            <a:avLst>
              <a:gd fmla="val 50000" name="adj"/>
            </a:avLst>
          </a:prstGeom>
          <a:solidFill>
            <a:srgbClr val="EEF0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1"/>
          <p:cNvSpPr/>
          <p:nvPr/>
        </p:nvSpPr>
        <p:spPr>
          <a:xfrm>
            <a:off x="6465370" y="2674232"/>
            <a:ext cx="4572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1"/>
          <p:cNvSpPr/>
          <p:nvPr/>
        </p:nvSpPr>
        <p:spPr>
          <a:xfrm>
            <a:off x="2190550" y="2948552"/>
            <a:ext cx="5212200" cy="310800"/>
          </a:xfrm>
          <a:prstGeom prst="rect">
            <a:avLst/>
          </a:prstGeom>
          <a:solidFill>
            <a:srgbClr val="F4F5FB"/>
          </a:solidFill>
          <a:ln cap="flat" cmpd="sng" w="9525">
            <a:solidFill>
              <a:srgbClr val="E6E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1"/>
          <p:cNvSpPr/>
          <p:nvPr/>
        </p:nvSpPr>
        <p:spPr>
          <a:xfrm>
            <a:off x="2373430" y="2948552"/>
            <a:ext cx="34746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243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3243A"/>
                </a:solidFill>
                <a:latin typeface="Calibri"/>
                <a:ea typeface="Calibri"/>
                <a:cs typeface="Calibri"/>
                <a:sym typeface="Calibri"/>
              </a:rPr>
              <a:t>Probability and Statistics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1"/>
          <p:cNvSpPr/>
          <p:nvPr/>
        </p:nvSpPr>
        <p:spPr>
          <a:xfrm>
            <a:off x="6465370" y="2985128"/>
            <a:ext cx="457200" cy="237600"/>
          </a:xfrm>
          <a:prstGeom prst="roundRect">
            <a:avLst>
              <a:gd fmla="val 50000" name="adj"/>
            </a:avLst>
          </a:prstGeom>
          <a:solidFill>
            <a:srgbClr val="EEF0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1"/>
          <p:cNvSpPr/>
          <p:nvPr/>
        </p:nvSpPr>
        <p:spPr>
          <a:xfrm>
            <a:off x="6465370" y="2985128"/>
            <a:ext cx="4572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1"/>
          <p:cNvSpPr/>
          <p:nvPr/>
        </p:nvSpPr>
        <p:spPr>
          <a:xfrm>
            <a:off x="2190550" y="3259448"/>
            <a:ext cx="5212200" cy="310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6E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1"/>
          <p:cNvSpPr/>
          <p:nvPr/>
        </p:nvSpPr>
        <p:spPr>
          <a:xfrm>
            <a:off x="2373430" y="3259448"/>
            <a:ext cx="34746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243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3243A"/>
                </a:solidFill>
                <a:latin typeface="Calibri"/>
                <a:ea typeface="Calibri"/>
                <a:cs typeface="Calibri"/>
                <a:sym typeface="Calibri"/>
              </a:rPr>
              <a:t>Statistical Computing Lab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1"/>
          <p:cNvSpPr/>
          <p:nvPr/>
        </p:nvSpPr>
        <p:spPr>
          <a:xfrm>
            <a:off x="6465370" y="3296024"/>
            <a:ext cx="457200" cy="237600"/>
          </a:xfrm>
          <a:prstGeom prst="roundRect">
            <a:avLst>
              <a:gd fmla="val 50000" name="adj"/>
            </a:avLst>
          </a:prstGeom>
          <a:solidFill>
            <a:srgbClr val="EEF0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1"/>
          <p:cNvSpPr/>
          <p:nvPr/>
        </p:nvSpPr>
        <p:spPr>
          <a:xfrm>
            <a:off x="6465370" y="3296024"/>
            <a:ext cx="4572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1"/>
          <p:cNvSpPr/>
          <p:nvPr/>
        </p:nvSpPr>
        <p:spPr>
          <a:xfrm>
            <a:off x="2190550" y="3570344"/>
            <a:ext cx="5212200" cy="310800"/>
          </a:xfrm>
          <a:prstGeom prst="rect">
            <a:avLst/>
          </a:prstGeom>
          <a:solidFill>
            <a:srgbClr val="F4F5FB"/>
          </a:solidFill>
          <a:ln cap="flat" cmpd="sng" w="9525">
            <a:solidFill>
              <a:srgbClr val="E6E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1"/>
          <p:cNvSpPr/>
          <p:nvPr/>
        </p:nvSpPr>
        <p:spPr>
          <a:xfrm>
            <a:off x="2373430" y="3570344"/>
            <a:ext cx="34746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243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3243A"/>
                </a:solidFill>
                <a:latin typeface="Calibri"/>
                <a:ea typeface="Calibri"/>
                <a:cs typeface="Calibri"/>
                <a:sym typeface="Calibri"/>
              </a:rPr>
              <a:t>Logical Reasoning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1"/>
          <p:cNvSpPr/>
          <p:nvPr/>
        </p:nvSpPr>
        <p:spPr>
          <a:xfrm>
            <a:off x="6465370" y="3606920"/>
            <a:ext cx="457200" cy="237600"/>
          </a:xfrm>
          <a:prstGeom prst="roundRect">
            <a:avLst>
              <a:gd fmla="val 50000" name="adj"/>
            </a:avLst>
          </a:prstGeom>
          <a:solidFill>
            <a:srgbClr val="EEF0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1"/>
          <p:cNvSpPr/>
          <p:nvPr/>
        </p:nvSpPr>
        <p:spPr>
          <a:xfrm>
            <a:off x="6465370" y="3606920"/>
            <a:ext cx="4572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1"/>
          <p:cNvSpPr/>
          <p:nvPr/>
        </p:nvSpPr>
        <p:spPr>
          <a:xfrm>
            <a:off x="2190550" y="3881240"/>
            <a:ext cx="5212200" cy="310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6E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1"/>
          <p:cNvSpPr/>
          <p:nvPr/>
        </p:nvSpPr>
        <p:spPr>
          <a:xfrm>
            <a:off x="2373430" y="3881240"/>
            <a:ext cx="34746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243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3243A"/>
                </a:solidFill>
                <a:latin typeface="Calibri"/>
                <a:ea typeface="Calibri"/>
                <a:cs typeface="Calibri"/>
                <a:sym typeface="Calibri"/>
              </a:rPr>
              <a:t>Applied Communicative English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1"/>
          <p:cNvSpPr/>
          <p:nvPr/>
        </p:nvSpPr>
        <p:spPr>
          <a:xfrm>
            <a:off x="6465370" y="3917816"/>
            <a:ext cx="457200" cy="237600"/>
          </a:xfrm>
          <a:prstGeom prst="roundRect">
            <a:avLst>
              <a:gd fmla="val 50000" name="adj"/>
            </a:avLst>
          </a:prstGeom>
          <a:solidFill>
            <a:srgbClr val="EEF0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1"/>
          <p:cNvSpPr/>
          <p:nvPr/>
        </p:nvSpPr>
        <p:spPr>
          <a:xfrm>
            <a:off x="6465370" y="3917816"/>
            <a:ext cx="4572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1"/>
          <p:cNvSpPr/>
          <p:nvPr/>
        </p:nvSpPr>
        <p:spPr>
          <a:xfrm>
            <a:off x="5981652" y="2015864"/>
            <a:ext cx="7200" cy="2487300"/>
          </a:xfrm>
          <a:prstGeom prst="rect">
            <a:avLst/>
          </a:prstGeom>
          <a:solidFill>
            <a:srgbClr val="E6E7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D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2"/>
          <p:cNvSpPr/>
          <p:nvPr/>
        </p:nvSpPr>
        <p:spPr>
          <a:xfrm>
            <a:off x="8138160" y="4864608"/>
            <a:ext cx="457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7186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6E7186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2"/>
          <p:cNvSpPr/>
          <p:nvPr/>
        </p:nvSpPr>
        <p:spPr>
          <a:xfrm>
            <a:off x="566928" y="384048"/>
            <a:ext cx="7315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4FD6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5B4FD6"/>
                </a:solidFill>
                <a:latin typeface="Calibri"/>
                <a:ea typeface="Calibri"/>
                <a:cs typeface="Calibri"/>
                <a:sym typeface="Calibri"/>
              </a:rPr>
              <a:t>SCORING · STEP 2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2"/>
          <p:cNvSpPr/>
          <p:nvPr/>
        </p:nvSpPr>
        <p:spPr>
          <a:xfrm>
            <a:off x="548640" y="640080"/>
            <a:ext cx="81381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9E68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SPI Calculation</a:t>
            </a:r>
            <a:endParaRPr b="0" i="0" sz="3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2"/>
          <p:cNvSpPr/>
          <p:nvPr/>
        </p:nvSpPr>
        <p:spPr>
          <a:xfrm>
            <a:off x="548640" y="1188720"/>
            <a:ext cx="8046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43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3243A"/>
                </a:solidFill>
                <a:latin typeface="Calibri"/>
                <a:ea typeface="Calibri"/>
                <a:cs typeface="Calibri"/>
                <a:sym typeface="Calibri"/>
              </a:rPr>
              <a:t>Each </a:t>
            </a:r>
            <a:r>
              <a:rPr lang="en-US" sz="1300">
                <a:solidFill>
                  <a:srgbClr val="23243A"/>
                </a:solidFill>
                <a:latin typeface="Calibri"/>
                <a:ea typeface="Calibri"/>
                <a:cs typeface="Calibri"/>
                <a:sym typeface="Calibri"/>
              </a:rPr>
              <a:t>course</a:t>
            </a:r>
            <a:r>
              <a:rPr b="0" i="0" lang="en-US" sz="1300" u="none" cap="none" strike="noStrike">
                <a:solidFill>
                  <a:srgbClr val="23243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>
                <a:solidFill>
                  <a:srgbClr val="23243A"/>
                </a:solidFill>
                <a:latin typeface="Calibri"/>
                <a:ea typeface="Calibri"/>
                <a:cs typeface="Calibri"/>
                <a:sym typeface="Calibri"/>
              </a:rPr>
              <a:t>Level</a:t>
            </a:r>
            <a:r>
              <a:rPr b="0" i="0" lang="en-US" sz="1300" u="none" cap="none" strike="noStrike">
                <a:solidFill>
                  <a:srgbClr val="23243A"/>
                </a:solidFill>
                <a:latin typeface="Calibri"/>
                <a:ea typeface="Calibri"/>
                <a:cs typeface="Calibri"/>
                <a:sym typeface="Calibri"/>
              </a:rPr>
              <a:t> points (from Step 1) </a:t>
            </a:r>
            <a:r>
              <a:rPr lang="en-US" sz="1100">
                <a:solidFill>
                  <a:schemeClr val="dk1"/>
                </a:solidFill>
              </a:rPr>
              <a:t>combine by weights </a:t>
            </a:r>
            <a:r>
              <a:rPr b="1" lang="en-US" sz="1100">
                <a:solidFill>
                  <a:schemeClr val="dk1"/>
                </a:solidFill>
              </a:rPr>
              <a:t>to give your overall Skill Cycle SPI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0" name="Google Shape;210;p12"/>
          <p:cNvGraphicFramePr/>
          <p:nvPr/>
        </p:nvGraphicFramePr>
        <p:xfrm>
          <a:off x="548640" y="162763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{70AB4A1A-A49C-4F7A-BEE3-129B1DF94DAF}</a:tableStyleId>
              </a:tblPr>
              <a:tblGrid>
                <a:gridCol w="2926075"/>
                <a:gridCol w="822950"/>
                <a:gridCol w="822950"/>
                <a:gridCol w="1005850"/>
              </a:tblGrid>
              <a:tr h="278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>
                          <a:solidFill>
                            <a:srgbClr val="FFFFFF"/>
                          </a:solidFill>
                        </a:rPr>
                        <a:t>Course</a:t>
                      </a:r>
                      <a:endParaRPr sz="1150" u="none" cap="none" strike="noStrike"/>
                    </a:p>
                  </a:txBody>
                  <a:tcPr marT="25400" marB="25400" marR="88900" marL="88900" anchor="ctr">
                    <a:lnL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</a:rPr>
                        <a:t>Points</a:t>
                      </a:r>
                      <a:endParaRPr sz="1150" u="none" cap="none" strike="noStrike"/>
                    </a:p>
                  </a:txBody>
                  <a:tcPr marT="25400" marB="25400" marR="88900" marL="88900" anchor="ctr">
                    <a:lnL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>
                          <a:solidFill>
                            <a:srgbClr val="FFFFFF"/>
                          </a:solidFill>
                        </a:rPr>
                        <a:t>Weights</a:t>
                      </a:r>
                      <a:endParaRPr sz="1150" u="none" cap="none" strike="noStrike"/>
                    </a:p>
                  </a:txBody>
                  <a:tcPr marT="25400" marB="25400" marR="88900" marL="88900" anchor="ctr">
                    <a:lnL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>
                          <a:solidFill>
                            <a:srgbClr val="FFFFFF"/>
                          </a:solidFill>
                        </a:rPr>
                        <a:t>Score</a:t>
                      </a:r>
                      <a:endParaRPr sz="1150" u="none" cap="none" strike="noStrike"/>
                    </a:p>
                  </a:txBody>
                  <a:tcPr marT="25400" marB="25400" marR="88900" marL="88900" anchor="ctr">
                    <a:lnL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B4B"/>
                    </a:solidFill>
                  </a:tcPr>
                </a:tc>
              </a:tr>
              <a:tr h="278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43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3243A"/>
                          </a:solidFill>
                        </a:rPr>
                        <a:t>Back End Development</a:t>
                      </a:r>
                      <a:endParaRPr sz="1100" u="none" cap="none" strike="noStrike"/>
                    </a:p>
                  </a:txBody>
                  <a:tcPr marT="25400" marB="25400" marR="88900" marL="88900" anchor="ctr">
                    <a:lnL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43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3243A"/>
                          </a:solidFill>
                        </a:rPr>
                        <a:t>9</a:t>
                      </a:r>
                      <a:endParaRPr sz="1100" u="none" cap="none" strike="noStrike"/>
                    </a:p>
                  </a:txBody>
                  <a:tcPr marT="25400" marB="25400" marR="88900" marL="88900" anchor="ctr">
                    <a:lnL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43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3243A"/>
                          </a:solidFill>
                        </a:rPr>
                        <a:t>4</a:t>
                      </a:r>
                      <a:endParaRPr sz="1100" u="none" cap="none" strike="noStrike"/>
                    </a:p>
                  </a:txBody>
                  <a:tcPr marT="25400" marB="25400" marR="88900" marL="88900" anchor="ctr">
                    <a:lnL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F46E5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4F46E5"/>
                          </a:solidFill>
                        </a:rPr>
                        <a:t>36</a:t>
                      </a:r>
                      <a:endParaRPr sz="1100" u="none" cap="none" strike="noStrike"/>
                    </a:p>
                  </a:txBody>
                  <a:tcPr marT="25400" marB="25400" marR="88900" marL="88900" anchor="ctr">
                    <a:lnL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8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43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3243A"/>
                          </a:solidFill>
                        </a:rPr>
                        <a:t>Design and Analysis of Algorithms</a:t>
                      </a:r>
                      <a:endParaRPr sz="1100" u="none" cap="none" strike="noStrike"/>
                    </a:p>
                  </a:txBody>
                  <a:tcPr marT="25400" marB="25400" marR="88900" marL="88900" anchor="ctr">
                    <a:lnL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2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43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3243A"/>
                          </a:solidFill>
                        </a:rPr>
                        <a:t>8</a:t>
                      </a:r>
                      <a:endParaRPr sz="1100" u="none" cap="none" strike="noStrike"/>
                    </a:p>
                  </a:txBody>
                  <a:tcPr marT="25400" marB="25400" marR="88900" marL="88900" anchor="ctr">
                    <a:lnL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2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43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3243A"/>
                          </a:solidFill>
                        </a:rPr>
                        <a:t>4</a:t>
                      </a:r>
                      <a:endParaRPr sz="1100" u="none" cap="none" strike="noStrike"/>
                    </a:p>
                  </a:txBody>
                  <a:tcPr marT="25400" marB="25400" marR="88900" marL="88900" anchor="ctr">
                    <a:lnL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2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F46E5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4F46E5"/>
                          </a:solidFill>
                        </a:rPr>
                        <a:t>32</a:t>
                      </a:r>
                      <a:endParaRPr sz="1100" u="none" cap="none" strike="noStrike"/>
                    </a:p>
                  </a:txBody>
                  <a:tcPr marT="25400" marB="25400" marR="88900" marL="88900" anchor="ctr">
                    <a:lnL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2F9"/>
                    </a:solidFill>
                  </a:tcPr>
                </a:tc>
              </a:tr>
              <a:tr h="278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43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3243A"/>
                          </a:solidFill>
                        </a:rPr>
                        <a:t>AI for Finance</a:t>
                      </a:r>
                      <a:endParaRPr sz="1100" u="none" cap="none" strike="noStrike"/>
                    </a:p>
                  </a:txBody>
                  <a:tcPr marT="25400" marB="25400" marR="88900" marL="88900" anchor="ctr">
                    <a:lnL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43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3243A"/>
                          </a:solidFill>
                        </a:rPr>
                        <a:t>9</a:t>
                      </a:r>
                      <a:endParaRPr sz="1100" u="none" cap="none" strike="noStrike"/>
                    </a:p>
                  </a:txBody>
                  <a:tcPr marT="25400" marB="25400" marR="88900" marL="88900" anchor="ctr">
                    <a:lnL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43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3243A"/>
                          </a:solidFill>
                        </a:rPr>
                        <a:t>4</a:t>
                      </a:r>
                      <a:endParaRPr sz="1100" u="none" cap="none" strike="noStrike"/>
                    </a:p>
                  </a:txBody>
                  <a:tcPr marT="25400" marB="25400" marR="88900" marL="88900" anchor="ctr">
                    <a:lnL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F46E5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4F46E5"/>
                          </a:solidFill>
                        </a:rPr>
                        <a:t>36</a:t>
                      </a:r>
                      <a:endParaRPr sz="1100" u="none" cap="none" strike="noStrike"/>
                    </a:p>
                  </a:txBody>
                  <a:tcPr marT="25400" marB="25400" marR="88900" marL="88900" anchor="ctr">
                    <a:lnL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8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43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3243A"/>
                          </a:solidFill>
                        </a:rPr>
                        <a:t>Probability and Statistics</a:t>
                      </a:r>
                      <a:endParaRPr sz="1100" u="none" cap="none" strike="noStrike"/>
                    </a:p>
                  </a:txBody>
                  <a:tcPr marT="25400" marB="25400" marR="88900" marL="88900" anchor="ctr">
                    <a:lnL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2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43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3243A"/>
                          </a:solidFill>
                        </a:rPr>
                        <a:t>7</a:t>
                      </a:r>
                      <a:endParaRPr sz="1100" u="none" cap="none" strike="noStrike"/>
                    </a:p>
                  </a:txBody>
                  <a:tcPr marT="25400" marB="25400" marR="88900" marL="88900" anchor="ctr">
                    <a:lnL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2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43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3243A"/>
                          </a:solidFill>
                        </a:rPr>
                        <a:t>3</a:t>
                      </a:r>
                      <a:endParaRPr sz="1100" u="none" cap="none" strike="noStrike"/>
                    </a:p>
                  </a:txBody>
                  <a:tcPr marT="25400" marB="25400" marR="88900" marL="88900" anchor="ctr">
                    <a:lnL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2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F46E5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4F46E5"/>
                          </a:solidFill>
                        </a:rPr>
                        <a:t>21</a:t>
                      </a:r>
                      <a:endParaRPr sz="1100" u="none" cap="none" strike="noStrike"/>
                    </a:p>
                  </a:txBody>
                  <a:tcPr marT="25400" marB="25400" marR="88900" marL="88900" anchor="ctr">
                    <a:lnL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2F9"/>
                    </a:solidFill>
                  </a:tcPr>
                </a:tc>
              </a:tr>
              <a:tr h="278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43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3243A"/>
                          </a:solidFill>
                        </a:rPr>
                        <a:t>Statistical Computing Lab</a:t>
                      </a:r>
                      <a:endParaRPr sz="1100" u="none" cap="none" strike="noStrike"/>
                    </a:p>
                  </a:txBody>
                  <a:tcPr marT="25400" marB="25400" marR="88900" marL="88900" anchor="ctr">
                    <a:lnL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43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3243A"/>
                          </a:solidFill>
                        </a:rPr>
                        <a:t>8</a:t>
                      </a:r>
                      <a:endParaRPr sz="1100" u="none" cap="none" strike="noStrike"/>
                    </a:p>
                  </a:txBody>
                  <a:tcPr marT="25400" marB="25400" marR="88900" marL="88900" anchor="ctr">
                    <a:lnL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43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3243A"/>
                          </a:solidFill>
                        </a:rPr>
                        <a:t>1</a:t>
                      </a:r>
                      <a:endParaRPr sz="1100" u="none" cap="none" strike="noStrike"/>
                    </a:p>
                  </a:txBody>
                  <a:tcPr marT="25400" marB="25400" marR="88900" marL="88900" anchor="ctr">
                    <a:lnL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F46E5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4F46E5"/>
                          </a:solidFill>
                        </a:rPr>
                        <a:t>8</a:t>
                      </a:r>
                      <a:endParaRPr sz="1100" u="none" cap="none" strike="noStrike"/>
                    </a:p>
                  </a:txBody>
                  <a:tcPr marT="25400" marB="25400" marR="88900" marL="88900" anchor="ctr">
                    <a:lnL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8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43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3243A"/>
                          </a:solidFill>
                        </a:rPr>
                        <a:t>Logical Reasoning</a:t>
                      </a:r>
                      <a:endParaRPr sz="1100" u="none" cap="none" strike="noStrike"/>
                    </a:p>
                  </a:txBody>
                  <a:tcPr marT="25400" marB="25400" marR="88900" marL="88900" anchor="ctr">
                    <a:lnL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2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43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3243A"/>
                          </a:solidFill>
                        </a:rPr>
                        <a:t>8</a:t>
                      </a:r>
                      <a:endParaRPr sz="1100" u="none" cap="none" strike="noStrike"/>
                    </a:p>
                  </a:txBody>
                  <a:tcPr marT="25400" marB="25400" marR="88900" marL="88900" anchor="ctr">
                    <a:lnL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2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43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3243A"/>
                          </a:solidFill>
                        </a:rPr>
                        <a:t>3</a:t>
                      </a:r>
                      <a:endParaRPr sz="1100" u="none" cap="none" strike="noStrike"/>
                    </a:p>
                  </a:txBody>
                  <a:tcPr marT="25400" marB="25400" marR="88900" marL="88900" anchor="ctr">
                    <a:lnL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2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F46E5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4F46E5"/>
                          </a:solidFill>
                        </a:rPr>
                        <a:t>24</a:t>
                      </a:r>
                      <a:endParaRPr sz="1100" u="none" cap="none" strike="noStrike"/>
                    </a:p>
                  </a:txBody>
                  <a:tcPr marT="25400" marB="25400" marR="88900" marL="88900" anchor="ctr">
                    <a:lnL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2F9"/>
                    </a:solidFill>
                  </a:tcPr>
                </a:tc>
              </a:tr>
              <a:tr h="278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43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3243A"/>
                          </a:solidFill>
                        </a:rPr>
                        <a:t>Applied Communicative English</a:t>
                      </a:r>
                      <a:endParaRPr sz="1100" u="none" cap="none" strike="noStrike"/>
                    </a:p>
                  </a:txBody>
                  <a:tcPr marT="25400" marB="25400" marR="88900" marL="88900" anchor="ctr">
                    <a:lnL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43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3243A"/>
                          </a:solidFill>
                        </a:rPr>
                        <a:t>9</a:t>
                      </a:r>
                      <a:endParaRPr sz="1100" u="none" cap="none" strike="noStrike"/>
                    </a:p>
                  </a:txBody>
                  <a:tcPr marT="25400" marB="25400" marR="88900" marL="88900" anchor="ctr">
                    <a:lnL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43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3243A"/>
                          </a:solidFill>
                        </a:rPr>
                        <a:t>3</a:t>
                      </a:r>
                      <a:endParaRPr sz="1100" u="none" cap="none" strike="noStrike"/>
                    </a:p>
                  </a:txBody>
                  <a:tcPr marT="25400" marB="25400" marR="88900" marL="88900" anchor="ctr">
                    <a:lnL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F46E5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4F46E5"/>
                          </a:solidFill>
                        </a:rPr>
                        <a:t>27</a:t>
                      </a:r>
                      <a:endParaRPr sz="1100" u="none" cap="none" strike="noStrike"/>
                    </a:p>
                  </a:txBody>
                  <a:tcPr marT="25400" marB="25400" marR="88900" marL="88900" anchor="ctr">
                    <a:lnL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8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</a:rPr>
                        <a:t>Total</a:t>
                      </a:r>
                      <a:endParaRPr sz="1150" u="none" cap="none" strike="noStrike"/>
                    </a:p>
                  </a:txBody>
                  <a:tcPr marT="25400" marB="25400" marR="88900" marL="88900" anchor="ctr">
                    <a:lnL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Calibri"/>
                        <a:buNone/>
                      </a:pPr>
                      <a:r>
                        <a:t/>
                      </a:r>
                      <a:endParaRPr sz="1150" u="none" cap="none" strike="noStrike"/>
                    </a:p>
                  </a:txBody>
                  <a:tcPr marT="25400" marB="25400" marR="88900" marL="88900" anchor="ctr">
                    <a:lnL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</a:rPr>
                        <a:t>22</a:t>
                      </a:r>
                      <a:endParaRPr sz="1150" u="none" cap="none" strike="noStrike"/>
                    </a:p>
                  </a:txBody>
                  <a:tcPr marT="25400" marB="25400" marR="88900" marL="88900" anchor="ctr">
                    <a:lnL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</a:rPr>
                        <a:t>184</a:t>
                      </a:r>
                      <a:endParaRPr sz="1150" u="none" cap="none" strike="noStrike"/>
                    </a:p>
                  </a:txBody>
                  <a:tcPr marT="25400" marB="25400" marR="88900" marL="88900" anchor="ctr">
                    <a:lnL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9EB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B4B"/>
                    </a:solidFill>
                  </a:tcPr>
                </a:tc>
              </a:tr>
            </a:tbl>
          </a:graphicData>
        </a:graphic>
      </p:graphicFrame>
      <p:sp>
        <p:nvSpPr>
          <p:cNvPr id="211" name="Google Shape;211;p12"/>
          <p:cNvSpPr/>
          <p:nvPr/>
        </p:nvSpPr>
        <p:spPr>
          <a:xfrm>
            <a:off x="6309360" y="1627632"/>
            <a:ext cx="2286000" cy="2510100"/>
          </a:xfrm>
          <a:prstGeom prst="roundRect">
            <a:avLst>
              <a:gd fmla="val 6400" name="adj"/>
            </a:avLst>
          </a:prstGeom>
          <a:solidFill>
            <a:srgbClr val="FFFFFF"/>
          </a:solidFill>
          <a:ln cap="flat" cmpd="sng" w="12700">
            <a:solidFill>
              <a:srgbClr val="E6E7F2"/>
            </a:solidFill>
            <a:prstDash val="solid"/>
            <a:round/>
            <a:headEnd len="sm" w="sm" type="none"/>
            <a:tailEnd len="sm" w="sm" type="none"/>
          </a:ln>
          <a:effectLst>
            <a:outerShdw blurRad="139700" rotWithShape="0" algn="bl" dir="5400000" dist="38100">
              <a:srgbClr val="5B5E7A">
                <a:alpha val="1098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2"/>
          <p:cNvSpPr/>
          <p:nvPr/>
        </p:nvSpPr>
        <p:spPr>
          <a:xfrm>
            <a:off x="6309360" y="1773936"/>
            <a:ext cx="2286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YOUR </a:t>
            </a:r>
            <a:r>
              <a:rPr b="1" lang="en-US" sz="1050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Skill Cycle</a:t>
            </a:r>
            <a:r>
              <a:rPr b="1" i="0" lang="en-US" sz="1050" u="none" cap="none" strike="noStrike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 SPI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2"/>
          <p:cNvSpPr/>
          <p:nvPr/>
        </p:nvSpPr>
        <p:spPr>
          <a:xfrm>
            <a:off x="6309360" y="1956816"/>
            <a:ext cx="2286000" cy="67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4600"/>
              <a:buFont typeface="Calibri"/>
              <a:buNone/>
            </a:pPr>
            <a:r>
              <a:rPr b="1" i="0" lang="en-US" sz="4600" u="none" cap="none" strike="noStrike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8.36</a:t>
            </a:r>
            <a:endParaRPr b="0" i="0" sz="4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2"/>
          <p:cNvSpPr/>
          <p:nvPr/>
        </p:nvSpPr>
        <p:spPr>
          <a:xfrm>
            <a:off x="6309360" y="2633472"/>
            <a:ext cx="2286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718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E7186"/>
                </a:solidFill>
                <a:latin typeface="Calibri"/>
                <a:ea typeface="Calibri"/>
                <a:cs typeface="Calibri"/>
                <a:sym typeface="Calibri"/>
              </a:rPr>
              <a:t>out of 10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2"/>
          <p:cNvSpPr/>
          <p:nvPr/>
        </p:nvSpPr>
        <p:spPr>
          <a:xfrm>
            <a:off x="6583680" y="2907792"/>
            <a:ext cx="1737300" cy="11100"/>
          </a:xfrm>
          <a:prstGeom prst="rect">
            <a:avLst/>
          </a:prstGeom>
          <a:solidFill>
            <a:srgbClr val="E6E7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2"/>
          <p:cNvSpPr/>
          <p:nvPr/>
        </p:nvSpPr>
        <p:spPr>
          <a:xfrm>
            <a:off x="6309360" y="2999232"/>
            <a:ext cx="2286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184 ÷ 22 = 8.36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2"/>
          <p:cNvSpPr/>
          <p:nvPr/>
        </p:nvSpPr>
        <p:spPr>
          <a:xfrm>
            <a:off x="6537960" y="3291840"/>
            <a:ext cx="1828800" cy="274200"/>
          </a:xfrm>
          <a:prstGeom prst="roundRect">
            <a:avLst>
              <a:gd fmla="val 5000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2"/>
          <p:cNvSpPr/>
          <p:nvPr/>
        </p:nvSpPr>
        <p:spPr>
          <a:xfrm>
            <a:off x="6537960" y="3291840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Strong · skill-ready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2"/>
          <p:cNvSpPr/>
          <p:nvPr/>
        </p:nvSpPr>
        <p:spPr>
          <a:xfrm>
            <a:off x="6528816" y="3621024"/>
            <a:ext cx="18471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6E7186"/>
              </a:buClr>
              <a:buSzPts val="980"/>
              <a:buFont typeface="Calibri"/>
              <a:buNone/>
            </a:pPr>
            <a:r>
              <a:rPr b="0" i="1" lang="en-US" sz="980" u="none" cap="none" strike="noStrike">
                <a:solidFill>
                  <a:srgbClr val="6E7186"/>
                </a:solidFill>
                <a:latin typeface="Calibri"/>
                <a:ea typeface="Calibri"/>
                <a:cs typeface="Calibri"/>
                <a:sym typeface="Calibri"/>
              </a:rPr>
              <a:t>Higher-</a:t>
            </a:r>
            <a:r>
              <a:rPr i="1" lang="en-US" sz="980">
                <a:solidFill>
                  <a:srgbClr val="6E7186"/>
                </a:solidFill>
                <a:latin typeface="Calibri"/>
                <a:ea typeface="Calibri"/>
                <a:cs typeface="Calibri"/>
                <a:sym typeface="Calibri"/>
              </a:rPr>
              <a:t>weighted</a:t>
            </a:r>
            <a:r>
              <a:rPr b="0" i="1" lang="en-US" sz="980" u="none" cap="none" strike="noStrike">
                <a:solidFill>
                  <a:srgbClr val="6E718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i="1" lang="en-US" sz="980">
                <a:solidFill>
                  <a:srgbClr val="6E7186"/>
                </a:solidFill>
                <a:latin typeface="Calibri"/>
                <a:ea typeface="Calibri"/>
                <a:cs typeface="Calibri"/>
                <a:sym typeface="Calibri"/>
              </a:rPr>
              <a:t>course</a:t>
            </a:r>
            <a:r>
              <a:rPr b="0" i="1" lang="en-US" sz="980" u="none" cap="none" strike="noStrike">
                <a:solidFill>
                  <a:srgbClr val="6E7186"/>
                </a:solidFill>
                <a:latin typeface="Calibri"/>
                <a:ea typeface="Calibri"/>
                <a:cs typeface="Calibri"/>
                <a:sym typeface="Calibri"/>
              </a:rPr>
              <a:t>s pull your SPI more.</a:t>
            </a:r>
            <a:endParaRPr b="0" i="0" sz="98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2"/>
          <p:cNvSpPr/>
          <p:nvPr/>
        </p:nvSpPr>
        <p:spPr>
          <a:xfrm>
            <a:off x="548640" y="4224528"/>
            <a:ext cx="8046600" cy="457200"/>
          </a:xfrm>
          <a:prstGeom prst="roundRect">
            <a:avLst>
              <a:gd fmla="val 24000" name="adj"/>
            </a:avLst>
          </a:prstGeom>
          <a:solidFill>
            <a:srgbClr val="EEF0FB"/>
          </a:solidFill>
          <a:ln cap="flat" cmpd="sng" w="12700">
            <a:solidFill>
              <a:srgbClr val="DADD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2"/>
          <p:cNvSpPr/>
          <p:nvPr/>
        </p:nvSpPr>
        <p:spPr>
          <a:xfrm>
            <a:off x="713232" y="4297680"/>
            <a:ext cx="310800" cy="310800"/>
          </a:xfrm>
          <a:prstGeom prst="roundRect">
            <a:avLst>
              <a:gd fmla="val 28000" name="adj"/>
            </a:avLst>
          </a:prstGeom>
          <a:solidFill>
            <a:srgbClr val="4F46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2" name="Google Shape;22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7174" y="4381622"/>
            <a:ext cx="143012" cy="143012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12"/>
          <p:cNvSpPr/>
          <p:nvPr/>
        </p:nvSpPr>
        <p:spPr>
          <a:xfrm>
            <a:off x="1188720" y="4224528"/>
            <a:ext cx="726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SPI = </a:t>
            </a:r>
            <a:r>
              <a:rPr b="0" i="0" lang="en-US" sz="1150" u="none" cap="none" strike="noStrike">
                <a:solidFill>
                  <a:srgbClr val="23243A"/>
                </a:solidFill>
                <a:latin typeface="Calibri"/>
                <a:ea typeface="Calibri"/>
                <a:cs typeface="Calibri"/>
                <a:sym typeface="Calibri"/>
              </a:rPr>
              <a:t>Sum of (</a:t>
            </a:r>
            <a:r>
              <a:rPr lang="en-US" sz="1150">
                <a:solidFill>
                  <a:srgbClr val="23243A"/>
                </a:solidFill>
                <a:latin typeface="Calibri"/>
                <a:ea typeface="Calibri"/>
                <a:cs typeface="Calibri"/>
                <a:sym typeface="Calibri"/>
              </a:rPr>
              <a:t>Course</a:t>
            </a:r>
            <a:r>
              <a:rPr b="0" i="0" lang="en-US" sz="1150" u="none" cap="none" strike="noStrike">
                <a:solidFill>
                  <a:srgbClr val="23243A"/>
                </a:solidFill>
                <a:latin typeface="Calibri"/>
                <a:ea typeface="Calibri"/>
                <a:cs typeface="Calibri"/>
                <a:sym typeface="Calibri"/>
              </a:rPr>
              <a:t> Points × </a:t>
            </a:r>
            <a:r>
              <a:rPr lang="en-US" sz="1150">
                <a:solidFill>
                  <a:srgbClr val="23243A"/>
                </a:solidFill>
                <a:latin typeface="Calibri"/>
                <a:ea typeface="Calibri"/>
                <a:cs typeface="Calibri"/>
                <a:sym typeface="Calibri"/>
              </a:rPr>
              <a:t>Weights</a:t>
            </a:r>
            <a:r>
              <a:rPr b="0" i="0" lang="en-US" sz="1150" u="none" cap="none" strike="noStrike">
                <a:solidFill>
                  <a:srgbClr val="23243A"/>
                </a:solidFill>
                <a:latin typeface="Calibri"/>
                <a:ea typeface="Calibri"/>
                <a:cs typeface="Calibri"/>
                <a:sym typeface="Calibri"/>
              </a:rPr>
              <a:t>) ÷ Total </a:t>
            </a:r>
            <a:r>
              <a:rPr lang="en-US" sz="1150">
                <a:solidFill>
                  <a:srgbClr val="23243A"/>
                </a:solidFill>
                <a:latin typeface="Calibri"/>
                <a:ea typeface="Calibri"/>
                <a:cs typeface="Calibri"/>
                <a:sym typeface="Calibri"/>
              </a:rPr>
              <a:t>Weights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D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3"/>
          <p:cNvSpPr/>
          <p:nvPr/>
        </p:nvSpPr>
        <p:spPr>
          <a:xfrm>
            <a:off x="566928" y="402336"/>
            <a:ext cx="7315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4FD6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5B4FD6"/>
                </a:solidFill>
                <a:latin typeface="Calibri"/>
                <a:ea typeface="Calibri"/>
                <a:cs typeface="Calibri"/>
                <a:sym typeface="Calibri"/>
              </a:rPr>
              <a:t>ELIGIBILITY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3"/>
          <p:cNvSpPr/>
          <p:nvPr/>
        </p:nvSpPr>
        <p:spPr>
          <a:xfrm>
            <a:off x="548640" y="658368"/>
            <a:ext cx="81381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9E68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0E9E68"/>
                </a:solidFill>
                <a:latin typeface="Calibri"/>
                <a:ea typeface="Calibri"/>
                <a:cs typeface="Calibri"/>
                <a:sym typeface="Calibri"/>
              </a:rPr>
              <a:t>ELIGIBILITY </a:t>
            </a:r>
            <a:r>
              <a:rPr b="1" i="0" lang="en-US" sz="3000" u="none" cap="none" strike="noStrik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CRITERIA</a:t>
            </a:r>
            <a:endParaRPr b="0" i="0" sz="3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3"/>
          <p:cNvSpPr/>
          <p:nvPr/>
        </p:nvSpPr>
        <p:spPr>
          <a:xfrm>
            <a:off x="548640" y="1298448"/>
            <a:ext cx="8046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43A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23243A"/>
                </a:solidFill>
                <a:latin typeface="Calibri"/>
                <a:ea typeface="Calibri"/>
                <a:cs typeface="Calibri"/>
                <a:sym typeface="Calibri"/>
              </a:rPr>
              <a:t>You earn </a:t>
            </a:r>
            <a:r>
              <a:rPr lang="en-US" sz="1350">
                <a:solidFill>
                  <a:srgbClr val="23243A"/>
                </a:solidFill>
                <a:latin typeface="Calibri"/>
                <a:ea typeface="Calibri"/>
                <a:cs typeface="Calibri"/>
                <a:sym typeface="Calibri"/>
              </a:rPr>
              <a:t>SPI </a:t>
            </a:r>
            <a:r>
              <a:rPr b="0" i="0" lang="en-US" sz="1350" u="none" cap="none" strike="noStrike">
                <a:solidFill>
                  <a:srgbClr val="23243A"/>
                </a:solidFill>
                <a:latin typeface="Calibri"/>
                <a:ea typeface="Calibri"/>
                <a:cs typeface="Calibri"/>
                <a:sym typeface="Calibri"/>
              </a:rPr>
              <a:t>only when every requirement below is met.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3"/>
          <p:cNvSpPr/>
          <p:nvPr/>
        </p:nvSpPr>
        <p:spPr>
          <a:xfrm>
            <a:off x="685153" y="1792754"/>
            <a:ext cx="7524000" cy="2532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39700" rotWithShape="0" algn="bl" dir="5400000" dist="38100">
              <a:srgbClr val="5B5E7A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3"/>
          <p:cNvSpPr/>
          <p:nvPr/>
        </p:nvSpPr>
        <p:spPr>
          <a:xfrm>
            <a:off x="685150" y="1792754"/>
            <a:ext cx="7524000" cy="4206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3"/>
          <p:cNvSpPr/>
          <p:nvPr/>
        </p:nvSpPr>
        <p:spPr>
          <a:xfrm>
            <a:off x="885672" y="1792750"/>
            <a:ext cx="35091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Requirement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3"/>
          <p:cNvSpPr/>
          <p:nvPr/>
        </p:nvSpPr>
        <p:spPr>
          <a:xfrm>
            <a:off x="4695759" y="1792750"/>
            <a:ext cx="33423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Minimum Criteria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3"/>
          <p:cNvSpPr/>
          <p:nvPr/>
        </p:nvSpPr>
        <p:spPr>
          <a:xfrm>
            <a:off x="685150" y="2213379"/>
            <a:ext cx="7524000" cy="351900"/>
          </a:xfrm>
          <a:prstGeom prst="rect">
            <a:avLst/>
          </a:prstGeom>
          <a:solidFill>
            <a:srgbClr val="FFF6E6"/>
          </a:solidFill>
          <a:ln cap="flat" cmpd="sng" w="9525">
            <a:solidFill>
              <a:srgbClr val="E6E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3"/>
          <p:cNvSpPr/>
          <p:nvPr/>
        </p:nvSpPr>
        <p:spPr>
          <a:xfrm>
            <a:off x="863390" y="2265952"/>
            <a:ext cx="300900" cy="246900"/>
          </a:xfrm>
          <a:prstGeom prst="roundRect">
            <a:avLst>
              <a:gd fmla="val 25926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8" name="Google Shape;23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5581" y="2325205"/>
            <a:ext cx="156415" cy="128382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13"/>
          <p:cNvSpPr/>
          <p:nvPr/>
        </p:nvSpPr>
        <p:spPr>
          <a:xfrm>
            <a:off x="1309015" y="2213374"/>
            <a:ext cx="3085800" cy="3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Attendance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3"/>
          <p:cNvSpPr/>
          <p:nvPr/>
        </p:nvSpPr>
        <p:spPr>
          <a:xfrm>
            <a:off x="4695759" y="2213374"/>
            <a:ext cx="3342300" cy="3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43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23243A"/>
                </a:solidFill>
                <a:latin typeface="Calibri"/>
                <a:ea typeface="Calibri"/>
                <a:cs typeface="Calibri"/>
                <a:sym typeface="Calibri"/>
              </a:rPr>
              <a:t>Minimum 80% (</a:t>
            </a:r>
            <a:r>
              <a:rPr b="1" lang="en-US" sz="1150">
                <a:solidFill>
                  <a:srgbClr val="23243A"/>
                </a:solidFill>
                <a:latin typeface="Calibri"/>
                <a:ea typeface="Calibri"/>
                <a:cs typeface="Calibri"/>
                <a:sym typeface="Calibri"/>
              </a:rPr>
              <a:t>recovery mode</a:t>
            </a:r>
            <a:r>
              <a:rPr b="1" i="0" lang="en-US" sz="1150" u="none" cap="none" strike="noStrike">
                <a:solidFill>
                  <a:srgbClr val="23243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1150">
                <a:solidFill>
                  <a:srgbClr val="23243A"/>
                </a:solidFill>
                <a:latin typeface="Calibri"/>
                <a:ea typeface="Calibri"/>
                <a:cs typeface="Calibri"/>
                <a:sym typeface="Calibri"/>
              </a:rPr>
              <a:t>will</a:t>
            </a:r>
            <a:r>
              <a:rPr b="1" i="0" lang="en-US" sz="1150" u="none" cap="none" strike="noStrike">
                <a:solidFill>
                  <a:srgbClr val="23243A"/>
                </a:solidFill>
                <a:latin typeface="Calibri"/>
                <a:ea typeface="Calibri"/>
                <a:cs typeface="Calibri"/>
                <a:sym typeface="Calibri"/>
              </a:rPr>
              <a:t> apply </a:t>
            </a:r>
            <a:r>
              <a:rPr b="1" lang="en-US" sz="1150">
                <a:solidFill>
                  <a:srgbClr val="23243A"/>
                </a:solidFill>
                <a:latin typeface="Calibri"/>
                <a:ea typeface="Calibri"/>
                <a:cs typeface="Calibri"/>
                <a:sym typeface="Calibri"/>
              </a:rPr>
              <a:t>if missed</a:t>
            </a:r>
            <a:r>
              <a:rPr b="1" i="0" lang="en-US" sz="1150" u="none" cap="none" strike="noStrike">
                <a:solidFill>
                  <a:srgbClr val="23243A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1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3"/>
          <p:cNvSpPr/>
          <p:nvPr/>
        </p:nvSpPr>
        <p:spPr>
          <a:xfrm>
            <a:off x="685150" y="2565429"/>
            <a:ext cx="7524000" cy="351900"/>
          </a:xfrm>
          <a:prstGeom prst="rect">
            <a:avLst/>
          </a:prstGeom>
          <a:solidFill>
            <a:srgbClr val="F4F5FB"/>
          </a:solidFill>
          <a:ln cap="flat" cmpd="sng" w="9525">
            <a:solidFill>
              <a:srgbClr val="E6E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3"/>
          <p:cNvSpPr/>
          <p:nvPr/>
        </p:nvSpPr>
        <p:spPr>
          <a:xfrm>
            <a:off x="863390" y="2617997"/>
            <a:ext cx="300900" cy="246900"/>
          </a:xfrm>
          <a:prstGeom prst="roundRect">
            <a:avLst>
              <a:gd fmla="val 25926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3" name="Google Shape;24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5581" y="2677250"/>
            <a:ext cx="156415" cy="128382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13"/>
          <p:cNvSpPr/>
          <p:nvPr/>
        </p:nvSpPr>
        <p:spPr>
          <a:xfrm>
            <a:off x="1309015" y="2565418"/>
            <a:ext cx="3085800" cy="3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Classroom Quizzes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3"/>
          <p:cNvSpPr/>
          <p:nvPr/>
        </p:nvSpPr>
        <p:spPr>
          <a:xfrm>
            <a:off x="4695759" y="2565418"/>
            <a:ext cx="3342300" cy="3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43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23243A"/>
                </a:solidFill>
                <a:latin typeface="Calibri"/>
                <a:ea typeface="Calibri"/>
                <a:cs typeface="Calibri"/>
                <a:sym typeface="Calibri"/>
              </a:rPr>
              <a:t>100% </a:t>
            </a:r>
            <a:r>
              <a:rPr b="1" lang="en-US" sz="1150">
                <a:solidFill>
                  <a:srgbClr val="23243A"/>
                </a:solidFill>
                <a:latin typeface="Calibri"/>
                <a:ea typeface="Calibri"/>
                <a:cs typeface="Calibri"/>
                <a:sym typeface="Calibri"/>
              </a:rPr>
              <a:t>participation</a:t>
            </a:r>
            <a:endParaRPr b="1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3"/>
          <p:cNvSpPr/>
          <p:nvPr/>
        </p:nvSpPr>
        <p:spPr>
          <a:xfrm>
            <a:off x="685150" y="2917455"/>
            <a:ext cx="7524000" cy="351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6E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3"/>
          <p:cNvSpPr/>
          <p:nvPr/>
        </p:nvSpPr>
        <p:spPr>
          <a:xfrm>
            <a:off x="863390" y="2970041"/>
            <a:ext cx="300900" cy="246900"/>
          </a:xfrm>
          <a:prstGeom prst="roundRect">
            <a:avLst>
              <a:gd fmla="val 25926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8" name="Google Shape;24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5581" y="3029294"/>
            <a:ext cx="156415" cy="128382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13"/>
          <p:cNvSpPr/>
          <p:nvPr/>
        </p:nvSpPr>
        <p:spPr>
          <a:xfrm>
            <a:off x="1309015" y="2917463"/>
            <a:ext cx="3085800" cy="3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Module Quizzes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3"/>
          <p:cNvSpPr/>
          <p:nvPr/>
        </p:nvSpPr>
        <p:spPr>
          <a:xfrm>
            <a:off x="4695759" y="2917463"/>
            <a:ext cx="3342300" cy="3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43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23243A"/>
                </a:solidFill>
                <a:latin typeface="Calibri"/>
                <a:ea typeface="Calibri"/>
                <a:cs typeface="Calibri"/>
                <a:sym typeface="Calibri"/>
              </a:rPr>
              <a:t>100% completion</a:t>
            </a:r>
            <a:endParaRPr b="1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3"/>
          <p:cNvSpPr/>
          <p:nvPr/>
        </p:nvSpPr>
        <p:spPr>
          <a:xfrm>
            <a:off x="685150" y="3269505"/>
            <a:ext cx="7524000" cy="351900"/>
          </a:xfrm>
          <a:prstGeom prst="rect">
            <a:avLst/>
          </a:prstGeom>
          <a:solidFill>
            <a:srgbClr val="F4F5FB"/>
          </a:solidFill>
          <a:ln cap="flat" cmpd="sng" w="9525">
            <a:solidFill>
              <a:srgbClr val="E6E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3"/>
          <p:cNvSpPr/>
          <p:nvPr/>
        </p:nvSpPr>
        <p:spPr>
          <a:xfrm>
            <a:off x="863390" y="3322085"/>
            <a:ext cx="300900" cy="246900"/>
          </a:xfrm>
          <a:prstGeom prst="roundRect">
            <a:avLst>
              <a:gd fmla="val 25926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3" name="Google Shape;25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5581" y="3381338"/>
            <a:ext cx="156415" cy="128382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13"/>
          <p:cNvSpPr/>
          <p:nvPr/>
        </p:nvSpPr>
        <p:spPr>
          <a:xfrm>
            <a:off x="1309015" y="3269507"/>
            <a:ext cx="3085800" cy="3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Skill Assessment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3"/>
          <p:cNvSpPr/>
          <p:nvPr/>
        </p:nvSpPr>
        <p:spPr>
          <a:xfrm>
            <a:off x="4695759" y="3269507"/>
            <a:ext cx="3342300" cy="3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43A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23243A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r>
              <a:rPr b="1" i="0" lang="en-US" sz="1150" u="none" cap="none" strike="noStrike">
                <a:solidFill>
                  <a:srgbClr val="23243A"/>
                </a:solidFill>
                <a:latin typeface="Calibri"/>
                <a:ea typeface="Calibri"/>
                <a:cs typeface="Calibri"/>
                <a:sym typeface="Calibri"/>
              </a:rPr>
              <a:t>0% participation</a:t>
            </a:r>
            <a:endParaRPr b="1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3"/>
          <p:cNvSpPr/>
          <p:nvPr/>
        </p:nvSpPr>
        <p:spPr>
          <a:xfrm>
            <a:off x="685150" y="3621555"/>
            <a:ext cx="7524000" cy="351900"/>
          </a:xfrm>
          <a:prstGeom prst="rect">
            <a:avLst/>
          </a:prstGeom>
          <a:solidFill>
            <a:srgbClr val="FFF6E6"/>
          </a:solidFill>
          <a:ln cap="flat" cmpd="sng" w="9525">
            <a:solidFill>
              <a:srgbClr val="E6E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3"/>
          <p:cNvSpPr/>
          <p:nvPr/>
        </p:nvSpPr>
        <p:spPr>
          <a:xfrm>
            <a:off x="863390" y="3674129"/>
            <a:ext cx="300900" cy="246900"/>
          </a:xfrm>
          <a:prstGeom prst="roundRect">
            <a:avLst>
              <a:gd fmla="val 25926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8" name="Google Shape;25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5581" y="3733382"/>
            <a:ext cx="156415" cy="128382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13"/>
          <p:cNvSpPr/>
          <p:nvPr/>
        </p:nvSpPr>
        <p:spPr>
          <a:xfrm>
            <a:off x="1309015" y="3621551"/>
            <a:ext cx="3085800" cy="3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Final</a:t>
            </a:r>
            <a:r>
              <a:rPr b="1" i="0" lang="en-US" sz="1200" u="none" cap="none" strike="noStrik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 Skill </a:t>
            </a:r>
            <a:r>
              <a:rPr b="1" lang="en-US" sz="1200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Assessment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3"/>
          <p:cNvSpPr/>
          <p:nvPr/>
        </p:nvSpPr>
        <p:spPr>
          <a:xfrm>
            <a:off x="4695759" y="3621551"/>
            <a:ext cx="3342300" cy="3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43A"/>
              </a:buClr>
              <a:buSzPts val="1150"/>
              <a:buFont typeface="Calibri"/>
              <a:buNone/>
            </a:pPr>
            <a:r>
              <a:rPr b="1" lang="en-US" sz="1150">
                <a:latin typeface="Calibri"/>
                <a:ea typeface="Calibri"/>
                <a:cs typeface="Calibri"/>
                <a:sym typeface="Calibri"/>
              </a:rPr>
              <a:t>Mandatory Participation</a:t>
            </a:r>
            <a:endParaRPr b="1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3"/>
          <p:cNvSpPr/>
          <p:nvPr/>
        </p:nvSpPr>
        <p:spPr>
          <a:xfrm>
            <a:off x="685150" y="3973605"/>
            <a:ext cx="7524000" cy="351900"/>
          </a:xfrm>
          <a:prstGeom prst="rect">
            <a:avLst/>
          </a:prstGeom>
          <a:solidFill>
            <a:srgbClr val="F4F5FB"/>
          </a:solidFill>
          <a:ln cap="flat" cmpd="sng" w="9525">
            <a:solidFill>
              <a:srgbClr val="E6E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3"/>
          <p:cNvSpPr/>
          <p:nvPr/>
        </p:nvSpPr>
        <p:spPr>
          <a:xfrm>
            <a:off x="863390" y="4026173"/>
            <a:ext cx="300900" cy="246900"/>
          </a:xfrm>
          <a:prstGeom prst="roundRect">
            <a:avLst>
              <a:gd fmla="val 25926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3" name="Google Shape;26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5581" y="4085426"/>
            <a:ext cx="156415" cy="128382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13"/>
          <p:cNvSpPr/>
          <p:nvPr/>
        </p:nvSpPr>
        <p:spPr>
          <a:xfrm>
            <a:off x="1309015" y="3973595"/>
            <a:ext cx="3085800" cy="3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Assessments</a:t>
            </a:r>
            <a:r>
              <a:rPr b="1" lang="en-US" sz="1200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 Honesty</a:t>
            </a:r>
            <a:endParaRPr b="1" sz="1200">
              <a:solidFill>
                <a:srgbClr val="1E1B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3"/>
          <p:cNvSpPr/>
          <p:nvPr/>
        </p:nvSpPr>
        <p:spPr>
          <a:xfrm>
            <a:off x="4695759" y="3973595"/>
            <a:ext cx="3342300" cy="3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3243A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23243A"/>
                </a:solidFill>
                <a:latin typeface="Calibri"/>
                <a:ea typeface="Calibri"/>
                <a:cs typeface="Calibri"/>
                <a:sym typeface="Calibri"/>
              </a:rPr>
              <a:t>No malpractice cases</a:t>
            </a:r>
            <a:endParaRPr b="1" sz="1150">
              <a:solidFill>
                <a:srgbClr val="2324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3"/>
          <p:cNvSpPr/>
          <p:nvPr/>
        </p:nvSpPr>
        <p:spPr>
          <a:xfrm>
            <a:off x="4524193" y="2213374"/>
            <a:ext cx="8700" cy="2464200"/>
          </a:xfrm>
          <a:prstGeom prst="rect">
            <a:avLst/>
          </a:prstGeom>
          <a:solidFill>
            <a:srgbClr val="E6E7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3"/>
          <p:cNvSpPr/>
          <p:nvPr/>
        </p:nvSpPr>
        <p:spPr>
          <a:xfrm>
            <a:off x="8200594" y="2213374"/>
            <a:ext cx="8700" cy="2464200"/>
          </a:xfrm>
          <a:prstGeom prst="rect">
            <a:avLst/>
          </a:prstGeom>
          <a:solidFill>
            <a:srgbClr val="E6E7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3"/>
          <p:cNvSpPr/>
          <p:nvPr/>
        </p:nvSpPr>
        <p:spPr>
          <a:xfrm>
            <a:off x="8138160" y="4736592"/>
            <a:ext cx="457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718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E7186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sz="850">
                <a:solidFill>
                  <a:srgbClr val="6E7186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8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D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4"/>
          <p:cNvSpPr/>
          <p:nvPr/>
        </p:nvSpPr>
        <p:spPr>
          <a:xfrm>
            <a:off x="548640" y="486460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186"/>
              </a:buClr>
              <a:buSzPts val="850"/>
              <a:buFont typeface="Calibri"/>
              <a:buNone/>
            </a:pPr>
            <a:r>
              <a:t/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4"/>
          <p:cNvSpPr/>
          <p:nvPr/>
        </p:nvSpPr>
        <p:spPr>
          <a:xfrm>
            <a:off x="8138160" y="486460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7186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6E7186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4"/>
          <p:cNvSpPr/>
          <p:nvPr/>
        </p:nvSpPr>
        <p:spPr>
          <a:xfrm>
            <a:off x="566928" y="402336"/>
            <a:ext cx="7315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4FD6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5B4FD6"/>
                </a:solidFill>
                <a:latin typeface="Calibri"/>
                <a:ea typeface="Calibri"/>
                <a:cs typeface="Calibri"/>
                <a:sym typeface="Calibri"/>
              </a:rPr>
              <a:t>RECOVERY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4"/>
          <p:cNvSpPr/>
          <p:nvPr/>
        </p:nvSpPr>
        <p:spPr>
          <a:xfrm>
            <a:off x="548640" y="658368"/>
            <a:ext cx="81381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Didn't Clear a </a:t>
            </a:r>
            <a:r>
              <a:rPr b="1" lang="en-US" sz="3000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Course</a:t>
            </a:r>
            <a:r>
              <a:rPr b="1" i="0" lang="en-US" sz="3000" u="none" cap="none" strike="noStrik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? Your Path Back</a:t>
            </a:r>
            <a:endParaRPr b="0" i="0" sz="3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4"/>
          <p:cNvSpPr/>
          <p:nvPr/>
        </p:nvSpPr>
        <p:spPr>
          <a:xfrm>
            <a:off x="548640" y="1225296"/>
            <a:ext cx="8046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43A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23243A"/>
                </a:solidFill>
                <a:latin typeface="Calibri"/>
                <a:ea typeface="Calibri"/>
                <a:cs typeface="Calibri"/>
                <a:sym typeface="Calibri"/>
              </a:rPr>
              <a:t>An 'F' or 'Ab' becomes a </a:t>
            </a:r>
            <a:r>
              <a:rPr b="1" lang="en-US" sz="1100">
                <a:solidFill>
                  <a:schemeClr val="dk1"/>
                </a:solidFill>
              </a:rPr>
              <a:t>Skill Debt</a:t>
            </a:r>
            <a:r>
              <a:rPr b="0" i="0" lang="en-US" sz="1350" u="none" cap="none" strike="noStrike">
                <a:solidFill>
                  <a:srgbClr val="23243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350" u="none" cap="none" strike="noStrike">
                <a:solidFill>
                  <a:srgbClr val="23243A"/>
                </a:solidFill>
                <a:latin typeface="Calibri"/>
                <a:ea typeface="Calibri"/>
                <a:cs typeface="Calibri"/>
                <a:sym typeface="Calibri"/>
              </a:rPr>
              <a:t>— but there's a clear route to clear it.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4"/>
          <p:cNvSpPr/>
          <p:nvPr/>
        </p:nvSpPr>
        <p:spPr>
          <a:xfrm>
            <a:off x="548640" y="1810512"/>
            <a:ext cx="1947600" cy="1645800"/>
          </a:xfrm>
          <a:prstGeom prst="roundRect">
            <a:avLst>
              <a:gd fmla="val 7778" name="adj"/>
            </a:avLst>
          </a:prstGeom>
          <a:solidFill>
            <a:srgbClr val="FFFFFF"/>
          </a:solidFill>
          <a:ln cap="flat" cmpd="sng" w="12700">
            <a:solidFill>
              <a:srgbClr val="E6E7F2"/>
            </a:solidFill>
            <a:prstDash val="solid"/>
            <a:round/>
            <a:headEnd len="sm" w="sm" type="none"/>
            <a:tailEnd len="sm" w="sm" type="none"/>
          </a:ln>
          <a:effectLst>
            <a:outerShdw blurRad="139700" rotWithShape="0" algn="bl" dir="5400000" dist="38100">
              <a:srgbClr val="5B5E7A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4"/>
          <p:cNvSpPr/>
          <p:nvPr/>
        </p:nvSpPr>
        <p:spPr>
          <a:xfrm>
            <a:off x="1248156" y="1993392"/>
            <a:ext cx="548700" cy="548700"/>
          </a:xfrm>
          <a:prstGeom prst="roundRect">
            <a:avLst>
              <a:gd fmla="val 26667" name="adj"/>
            </a:avLst>
          </a:prstGeom>
          <a:solidFill>
            <a:srgbClr val="4F46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4"/>
          <p:cNvSpPr/>
          <p:nvPr/>
        </p:nvSpPr>
        <p:spPr>
          <a:xfrm>
            <a:off x="1248156" y="1993392"/>
            <a:ext cx="548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4"/>
          <p:cNvSpPr/>
          <p:nvPr/>
        </p:nvSpPr>
        <p:spPr>
          <a:xfrm>
            <a:off x="621792" y="2633472"/>
            <a:ext cx="1801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Recovery window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4"/>
          <p:cNvSpPr/>
          <p:nvPr/>
        </p:nvSpPr>
        <p:spPr>
          <a:xfrm>
            <a:off x="667512" y="2889504"/>
            <a:ext cx="17100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23243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23243A"/>
                </a:solidFill>
                <a:latin typeface="Calibri"/>
                <a:ea typeface="Calibri"/>
                <a:cs typeface="Calibri"/>
                <a:sym typeface="Calibri"/>
              </a:rPr>
              <a:t>Skill Debt courses are </a:t>
            </a:r>
            <a:r>
              <a:rPr b="0" i="0" lang="en-US" sz="1000" u="none" cap="none" strike="noStrike">
                <a:solidFill>
                  <a:srgbClr val="23243A"/>
                </a:solidFill>
                <a:latin typeface="Calibri"/>
                <a:ea typeface="Calibri"/>
                <a:cs typeface="Calibri"/>
                <a:sym typeface="Calibri"/>
              </a:rPr>
              <a:t>auto-</a:t>
            </a:r>
            <a:r>
              <a:rPr lang="en-US" sz="1000">
                <a:solidFill>
                  <a:srgbClr val="23243A"/>
                </a:solidFill>
                <a:latin typeface="Calibri"/>
                <a:ea typeface="Calibri"/>
                <a:cs typeface="Calibri"/>
                <a:sym typeface="Calibri"/>
              </a:rPr>
              <a:t>enrolled</a:t>
            </a:r>
            <a:r>
              <a:rPr b="0" i="0" lang="en-US" sz="1000" u="none" cap="none" strike="noStrike">
                <a:solidFill>
                  <a:srgbClr val="23243A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4"/>
          <p:cNvSpPr/>
          <p:nvPr/>
        </p:nvSpPr>
        <p:spPr>
          <a:xfrm>
            <a:off x="2660904" y="1810512"/>
            <a:ext cx="1947600" cy="1645800"/>
          </a:xfrm>
          <a:prstGeom prst="roundRect">
            <a:avLst>
              <a:gd fmla="val 7778" name="adj"/>
            </a:avLst>
          </a:prstGeom>
          <a:solidFill>
            <a:srgbClr val="FFFFFF"/>
          </a:solidFill>
          <a:ln cap="flat" cmpd="sng" w="12700">
            <a:solidFill>
              <a:srgbClr val="E6E7F2"/>
            </a:solidFill>
            <a:prstDash val="solid"/>
            <a:round/>
            <a:headEnd len="sm" w="sm" type="none"/>
            <a:tailEnd len="sm" w="sm" type="none"/>
          </a:ln>
          <a:effectLst>
            <a:outerShdw blurRad="139700" rotWithShape="0" algn="bl" dir="5400000" dist="38100">
              <a:srgbClr val="5B5E7A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4"/>
          <p:cNvSpPr/>
          <p:nvPr/>
        </p:nvSpPr>
        <p:spPr>
          <a:xfrm>
            <a:off x="3360420" y="1993392"/>
            <a:ext cx="548700" cy="548700"/>
          </a:xfrm>
          <a:prstGeom prst="roundRect">
            <a:avLst>
              <a:gd fmla="val 26667" name="adj"/>
            </a:avLst>
          </a:prstGeom>
          <a:solidFill>
            <a:srgbClr val="4F46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4"/>
          <p:cNvSpPr/>
          <p:nvPr/>
        </p:nvSpPr>
        <p:spPr>
          <a:xfrm>
            <a:off x="3360420" y="1993392"/>
            <a:ext cx="548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4"/>
          <p:cNvSpPr/>
          <p:nvPr/>
        </p:nvSpPr>
        <p:spPr>
          <a:xfrm>
            <a:off x="2734056" y="2633472"/>
            <a:ext cx="1801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Attend </a:t>
            </a:r>
            <a:r>
              <a:rPr b="1" lang="en-US" sz="1100">
                <a:solidFill>
                  <a:schemeClr val="dk1"/>
                </a:solidFill>
              </a:rPr>
              <a:t>Recovery Classes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4"/>
          <p:cNvSpPr/>
          <p:nvPr/>
        </p:nvSpPr>
        <p:spPr>
          <a:xfrm>
            <a:off x="2779776" y="2889504"/>
            <a:ext cx="17100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23243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3243A"/>
                </a:solidFill>
                <a:latin typeface="Calibri"/>
                <a:ea typeface="Calibri"/>
                <a:cs typeface="Calibri"/>
                <a:sym typeface="Calibri"/>
              </a:rPr>
              <a:t>Complete any pending </a:t>
            </a:r>
            <a:r>
              <a:rPr lang="en-US" sz="1000">
                <a:solidFill>
                  <a:srgbClr val="23243A"/>
                </a:solidFill>
                <a:latin typeface="Calibri"/>
                <a:ea typeface="Calibri"/>
                <a:cs typeface="Calibri"/>
                <a:sym typeface="Calibri"/>
              </a:rPr>
              <a:t>Recovery </a:t>
            </a:r>
            <a:r>
              <a:rPr b="0" i="0" lang="en-US" sz="1000" u="none" cap="none" strike="noStrike">
                <a:solidFill>
                  <a:srgbClr val="23243A"/>
                </a:solidFill>
                <a:latin typeface="Calibri"/>
                <a:ea typeface="Calibri"/>
                <a:cs typeface="Calibri"/>
                <a:sym typeface="Calibri"/>
              </a:rPr>
              <a:t> classes </a:t>
            </a:r>
            <a:r>
              <a:rPr b="0" i="0" lang="en-US" sz="1000" u="none" cap="none" strike="noStrike">
                <a:solidFill>
                  <a:srgbClr val="23243A"/>
                </a:solidFill>
                <a:latin typeface="Calibri"/>
                <a:ea typeface="Calibri"/>
                <a:cs typeface="Calibri"/>
                <a:sym typeface="Calibri"/>
              </a:rPr>
              <a:t>for the </a:t>
            </a:r>
            <a:r>
              <a:rPr lang="en-US" sz="1000">
                <a:solidFill>
                  <a:srgbClr val="23243A"/>
                </a:solidFill>
                <a:latin typeface="Calibri"/>
                <a:ea typeface="Calibri"/>
                <a:cs typeface="Calibri"/>
                <a:sym typeface="Calibri"/>
              </a:rPr>
              <a:t>course</a:t>
            </a:r>
            <a:r>
              <a:rPr b="0" i="0" lang="en-US" sz="1000" u="none" cap="none" strike="noStrike">
                <a:solidFill>
                  <a:srgbClr val="23243A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4"/>
          <p:cNvSpPr/>
          <p:nvPr/>
        </p:nvSpPr>
        <p:spPr>
          <a:xfrm>
            <a:off x="4773168" y="1810512"/>
            <a:ext cx="1947600" cy="1645800"/>
          </a:xfrm>
          <a:prstGeom prst="roundRect">
            <a:avLst>
              <a:gd fmla="val 7778" name="adj"/>
            </a:avLst>
          </a:prstGeom>
          <a:solidFill>
            <a:srgbClr val="FFFFFF"/>
          </a:solidFill>
          <a:ln cap="flat" cmpd="sng" w="12700">
            <a:solidFill>
              <a:srgbClr val="E6E7F2"/>
            </a:solidFill>
            <a:prstDash val="solid"/>
            <a:round/>
            <a:headEnd len="sm" w="sm" type="none"/>
            <a:tailEnd len="sm" w="sm" type="none"/>
          </a:ln>
          <a:effectLst>
            <a:outerShdw blurRad="139700" rotWithShape="0" algn="bl" dir="5400000" dist="38100">
              <a:srgbClr val="5B5E7A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4"/>
          <p:cNvSpPr/>
          <p:nvPr/>
        </p:nvSpPr>
        <p:spPr>
          <a:xfrm>
            <a:off x="5472684" y="1993392"/>
            <a:ext cx="548700" cy="548700"/>
          </a:xfrm>
          <a:prstGeom prst="roundRect">
            <a:avLst>
              <a:gd fmla="val 26667" name="adj"/>
            </a:avLst>
          </a:prstGeom>
          <a:solidFill>
            <a:srgbClr val="4F46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4"/>
          <p:cNvSpPr/>
          <p:nvPr/>
        </p:nvSpPr>
        <p:spPr>
          <a:xfrm>
            <a:off x="5472684" y="1993392"/>
            <a:ext cx="548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4"/>
          <p:cNvSpPr/>
          <p:nvPr/>
        </p:nvSpPr>
        <p:spPr>
          <a:xfrm>
            <a:off x="4846320" y="2633472"/>
            <a:ext cx="1801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Finish pending work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4"/>
          <p:cNvSpPr/>
          <p:nvPr/>
        </p:nvSpPr>
        <p:spPr>
          <a:xfrm>
            <a:off x="4892040" y="2889504"/>
            <a:ext cx="17100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23243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3243A"/>
                </a:solidFill>
                <a:latin typeface="Calibri"/>
                <a:ea typeface="Calibri"/>
                <a:cs typeface="Calibri"/>
                <a:sym typeface="Calibri"/>
              </a:rPr>
              <a:t>Finish any pending assignments, module assessments or practice work for the </a:t>
            </a:r>
            <a:r>
              <a:rPr lang="en-US" sz="1000">
                <a:solidFill>
                  <a:srgbClr val="23243A"/>
                </a:solidFill>
                <a:latin typeface="Calibri"/>
                <a:ea typeface="Calibri"/>
                <a:cs typeface="Calibri"/>
                <a:sym typeface="Calibri"/>
              </a:rPr>
              <a:t>course</a:t>
            </a:r>
            <a:r>
              <a:rPr b="0" i="0" lang="en-US" sz="1000" u="none" cap="none" strike="noStrike">
                <a:solidFill>
                  <a:srgbClr val="23243A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4"/>
          <p:cNvSpPr/>
          <p:nvPr/>
        </p:nvSpPr>
        <p:spPr>
          <a:xfrm>
            <a:off x="6885432" y="1810512"/>
            <a:ext cx="1947600" cy="1645800"/>
          </a:xfrm>
          <a:prstGeom prst="roundRect">
            <a:avLst>
              <a:gd fmla="val 7778" name="adj"/>
            </a:avLst>
          </a:prstGeom>
          <a:solidFill>
            <a:srgbClr val="FFFFFF"/>
          </a:solidFill>
          <a:ln cap="flat" cmpd="sng" w="12700">
            <a:solidFill>
              <a:srgbClr val="E6E7F2"/>
            </a:solidFill>
            <a:prstDash val="solid"/>
            <a:round/>
            <a:headEnd len="sm" w="sm" type="none"/>
            <a:tailEnd len="sm" w="sm" type="none"/>
          </a:ln>
          <a:effectLst>
            <a:outerShdw blurRad="139700" rotWithShape="0" algn="bl" dir="5400000" dist="38100">
              <a:srgbClr val="5B5E7A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4"/>
          <p:cNvSpPr/>
          <p:nvPr/>
        </p:nvSpPr>
        <p:spPr>
          <a:xfrm>
            <a:off x="7584948" y="1993392"/>
            <a:ext cx="548700" cy="548700"/>
          </a:xfrm>
          <a:prstGeom prst="roundRect">
            <a:avLst>
              <a:gd fmla="val 26667" name="adj"/>
            </a:avLst>
          </a:prstGeom>
          <a:solidFill>
            <a:srgbClr val="1E1B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4"/>
          <p:cNvSpPr/>
          <p:nvPr/>
        </p:nvSpPr>
        <p:spPr>
          <a:xfrm>
            <a:off x="7584948" y="1993392"/>
            <a:ext cx="548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4"/>
          <p:cNvSpPr/>
          <p:nvPr/>
        </p:nvSpPr>
        <p:spPr>
          <a:xfrm>
            <a:off x="6958584" y="2633472"/>
            <a:ext cx="1801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Re-attempt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4"/>
          <p:cNvSpPr/>
          <p:nvPr/>
        </p:nvSpPr>
        <p:spPr>
          <a:xfrm>
            <a:off x="7004304" y="2889504"/>
            <a:ext cx="17100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23243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3243A"/>
                </a:solidFill>
                <a:latin typeface="Calibri"/>
                <a:ea typeface="Calibri"/>
                <a:cs typeface="Calibri"/>
                <a:sym typeface="Calibri"/>
              </a:rPr>
              <a:t>Sit the </a:t>
            </a:r>
            <a:r>
              <a:rPr lang="en-US" sz="1000">
                <a:solidFill>
                  <a:srgbClr val="23243A"/>
                </a:solidFill>
                <a:latin typeface="Calibri"/>
                <a:ea typeface="Calibri"/>
                <a:cs typeface="Calibri"/>
                <a:sym typeface="Calibri"/>
              </a:rPr>
              <a:t>Final Skill Assessment</a:t>
            </a:r>
            <a:r>
              <a:rPr b="0" i="0" lang="en-US" sz="1000" u="none" cap="none" strike="noStrike">
                <a:solidFill>
                  <a:srgbClr val="23243A"/>
                </a:solidFill>
                <a:latin typeface="Calibri"/>
                <a:ea typeface="Calibri"/>
                <a:cs typeface="Calibri"/>
                <a:sym typeface="Calibri"/>
              </a:rPr>
              <a:t> for that </a:t>
            </a:r>
            <a:r>
              <a:rPr lang="en-US" sz="1000">
                <a:solidFill>
                  <a:srgbClr val="23243A"/>
                </a:solidFill>
                <a:latin typeface="Calibri"/>
                <a:ea typeface="Calibri"/>
                <a:cs typeface="Calibri"/>
                <a:sym typeface="Calibri"/>
              </a:rPr>
              <a:t>course</a:t>
            </a:r>
            <a:r>
              <a:rPr b="0" i="0" lang="en-US" sz="1000" u="none" cap="none" strike="noStrike">
                <a:solidFill>
                  <a:srgbClr val="23243A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4"/>
          <p:cNvSpPr/>
          <p:nvPr/>
        </p:nvSpPr>
        <p:spPr>
          <a:xfrm>
            <a:off x="548640" y="3611880"/>
            <a:ext cx="3977700" cy="896100"/>
          </a:xfrm>
          <a:prstGeom prst="roundRect">
            <a:avLst>
              <a:gd fmla="val 12245" name="adj"/>
            </a:avLst>
          </a:prstGeom>
          <a:solidFill>
            <a:srgbClr val="EAF7F1"/>
          </a:solidFill>
          <a:ln cap="flat" cmpd="sng" w="12700">
            <a:solidFill>
              <a:srgbClr val="CDEB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4"/>
          <p:cNvSpPr/>
          <p:nvPr/>
        </p:nvSpPr>
        <p:spPr>
          <a:xfrm>
            <a:off x="731520" y="3867912"/>
            <a:ext cx="384000" cy="384000"/>
          </a:xfrm>
          <a:prstGeom prst="roundRect">
            <a:avLst>
              <a:gd fmla="val 2800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1" name="Google Shape;30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5213" y="3971605"/>
            <a:ext cx="176662" cy="176662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14"/>
          <p:cNvSpPr/>
          <p:nvPr/>
        </p:nvSpPr>
        <p:spPr>
          <a:xfrm>
            <a:off x="1243584" y="3611880"/>
            <a:ext cx="3154800" cy="89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E9E68"/>
              </a:buClr>
              <a:buSzPts val="1120"/>
              <a:buFont typeface="Calibri"/>
              <a:buNone/>
            </a:pPr>
            <a:r>
              <a:rPr b="1" i="0" lang="en-US" sz="1120" u="none" cap="none" strike="noStrike">
                <a:solidFill>
                  <a:srgbClr val="0E9E68"/>
                </a:solidFill>
                <a:latin typeface="Calibri"/>
                <a:ea typeface="Calibri"/>
                <a:cs typeface="Calibri"/>
                <a:sym typeface="Calibri"/>
              </a:rPr>
              <a:t>Medical / emergency: </a:t>
            </a:r>
            <a:r>
              <a:rPr b="0" i="0" lang="en-US" sz="1120" u="none" cap="none" strike="noStrike">
                <a:solidFill>
                  <a:srgbClr val="23243A"/>
                </a:solidFill>
                <a:latin typeface="Calibri"/>
                <a:ea typeface="Calibri"/>
                <a:cs typeface="Calibri"/>
                <a:sym typeface="Calibri"/>
              </a:rPr>
              <a:t>submit proof within </a:t>
            </a:r>
            <a:r>
              <a:rPr lang="en-US" sz="1120">
                <a:solidFill>
                  <a:srgbClr val="23243A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b="0" i="0" lang="en-US" sz="1120" u="none" cap="none" strike="noStrike">
                <a:solidFill>
                  <a:srgbClr val="23243A"/>
                </a:solidFill>
                <a:latin typeface="Calibri"/>
                <a:ea typeface="Calibri"/>
                <a:cs typeface="Calibri"/>
                <a:sym typeface="Calibri"/>
              </a:rPr>
              <a:t> days to re-sit as a first attempt — no grade cap, no fee.</a:t>
            </a:r>
            <a:endParaRPr b="0" i="0" sz="112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4"/>
          <p:cNvSpPr/>
          <p:nvPr/>
        </p:nvSpPr>
        <p:spPr>
          <a:xfrm>
            <a:off x="4617720" y="3611880"/>
            <a:ext cx="3977700" cy="896100"/>
          </a:xfrm>
          <a:prstGeom prst="roundRect">
            <a:avLst>
              <a:gd fmla="val 12245" name="adj"/>
            </a:avLst>
          </a:prstGeom>
          <a:solidFill>
            <a:srgbClr val="FFF6E6"/>
          </a:solidFill>
          <a:ln cap="flat" cmpd="sng" w="12700">
            <a:solidFill>
              <a:srgbClr val="FAE3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4"/>
          <p:cNvSpPr/>
          <p:nvPr/>
        </p:nvSpPr>
        <p:spPr>
          <a:xfrm>
            <a:off x="4800600" y="3867912"/>
            <a:ext cx="384000" cy="384000"/>
          </a:xfrm>
          <a:prstGeom prst="roundRect">
            <a:avLst>
              <a:gd fmla="val 28000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5" name="Google Shape;30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04293" y="3971605"/>
            <a:ext cx="176662" cy="176662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14"/>
          <p:cNvSpPr/>
          <p:nvPr/>
        </p:nvSpPr>
        <p:spPr>
          <a:xfrm>
            <a:off x="5312664" y="3611880"/>
            <a:ext cx="3154800" cy="89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9A6206"/>
              </a:buClr>
              <a:buSzPts val="1120"/>
              <a:buFont typeface="Calibri"/>
              <a:buNone/>
            </a:pPr>
            <a:r>
              <a:rPr b="1" i="0" lang="en-US" sz="1120" u="none" cap="none" strike="noStrike">
                <a:solidFill>
                  <a:srgbClr val="9A6206"/>
                </a:solidFill>
                <a:latin typeface="Calibri"/>
                <a:ea typeface="Calibri"/>
                <a:cs typeface="Calibri"/>
                <a:sym typeface="Calibri"/>
              </a:rPr>
              <a:t>2+ F/Ab grades: </a:t>
            </a:r>
            <a:r>
              <a:rPr b="0" i="0" lang="en-US" sz="1120" u="none" cap="none" strike="noStrike">
                <a:solidFill>
                  <a:srgbClr val="23243A"/>
                </a:solidFill>
                <a:latin typeface="Calibri"/>
                <a:ea typeface="Calibri"/>
                <a:cs typeface="Calibri"/>
                <a:sym typeface="Calibri"/>
              </a:rPr>
              <a:t>mandatory counselling with your mentor before you re-</a:t>
            </a:r>
            <a:r>
              <a:rPr lang="en-US" sz="1120">
                <a:solidFill>
                  <a:srgbClr val="23243A"/>
                </a:solidFill>
                <a:latin typeface="Calibri"/>
                <a:ea typeface="Calibri"/>
                <a:cs typeface="Calibri"/>
                <a:sym typeface="Calibri"/>
              </a:rPr>
              <a:t>start</a:t>
            </a:r>
            <a:r>
              <a:rPr b="0" i="0" lang="en-US" sz="1120" u="none" cap="none" strike="noStrike">
                <a:solidFill>
                  <a:srgbClr val="23243A"/>
                </a:solidFill>
                <a:latin typeface="Calibri"/>
                <a:ea typeface="Calibri"/>
                <a:cs typeface="Calibri"/>
                <a:sym typeface="Calibri"/>
              </a:rPr>
              <a:t> — a recovery plan is tracked.</a:t>
            </a:r>
            <a:endParaRPr b="0" i="0" sz="112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D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5"/>
          <p:cNvSpPr/>
          <p:nvPr/>
        </p:nvSpPr>
        <p:spPr>
          <a:xfrm>
            <a:off x="8138160" y="486460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7186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6E7186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5"/>
          <p:cNvSpPr/>
          <p:nvPr/>
        </p:nvSpPr>
        <p:spPr>
          <a:xfrm>
            <a:off x="566928" y="402336"/>
            <a:ext cx="7315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4FD6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5B4FD6"/>
                </a:solidFill>
                <a:latin typeface="Calibri"/>
                <a:ea typeface="Calibri"/>
                <a:cs typeface="Calibri"/>
                <a:sym typeface="Calibri"/>
              </a:rPr>
              <a:t>SKILL DEBT </a:t>
            </a:r>
            <a:r>
              <a:rPr b="1" i="0" lang="en-US" sz="1250" u="none" cap="none" strike="noStrike">
                <a:solidFill>
                  <a:srgbClr val="5B4FD6"/>
                </a:solidFill>
                <a:latin typeface="Calibri"/>
                <a:ea typeface="Calibri"/>
                <a:cs typeface="Calibri"/>
                <a:sym typeface="Calibri"/>
              </a:rPr>
              <a:t>RULES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5"/>
          <p:cNvSpPr/>
          <p:nvPr/>
        </p:nvSpPr>
        <p:spPr>
          <a:xfrm>
            <a:off x="548640" y="658368"/>
            <a:ext cx="81381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Skill Debts</a:t>
            </a:r>
            <a:r>
              <a:rPr b="1" i="0" lang="en-US" sz="300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3000" u="none" cap="none" strike="noStrik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&amp; Impact</a:t>
            </a:r>
            <a:endParaRPr b="0" i="0" sz="3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5"/>
          <p:cNvSpPr/>
          <p:nvPr/>
        </p:nvSpPr>
        <p:spPr>
          <a:xfrm>
            <a:off x="548640" y="1463040"/>
            <a:ext cx="8046600" cy="1956900"/>
          </a:xfrm>
          <a:prstGeom prst="roundRect">
            <a:avLst>
              <a:gd fmla="val 7477" name="adj"/>
            </a:avLst>
          </a:prstGeom>
          <a:solidFill>
            <a:srgbClr val="FFF6F8"/>
          </a:solidFill>
          <a:ln cap="flat" cmpd="sng" w="15875">
            <a:solidFill>
              <a:srgbClr val="F6C6D0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38100">
              <a:srgbClr val="5B5E7A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5"/>
          <p:cNvSpPr/>
          <p:nvPr/>
        </p:nvSpPr>
        <p:spPr>
          <a:xfrm>
            <a:off x="777240" y="1682496"/>
            <a:ext cx="548700" cy="548700"/>
          </a:xfrm>
          <a:prstGeom prst="roundRect">
            <a:avLst>
              <a:gd fmla="val 28000" name="adj"/>
            </a:avLst>
          </a:prstGeom>
          <a:solidFill>
            <a:srgbClr val="F43F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7" name="Google Shape;31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5373" y="1830629"/>
            <a:ext cx="252374" cy="252374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15"/>
          <p:cNvSpPr/>
          <p:nvPr/>
        </p:nvSpPr>
        <p:spPr>
          <a:xfrm>
            <a:off x="1481328" y="1682496"/>
            <a:ext cx="67665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Any active </a:t>
            </a:r>
            <a:r>
              <a:rPr b="1" lang="en-US" sz="1800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Skill Debts</a:t>
            </a:r>
            <a:r>
              <a:rPr b="1" i="0" lang="en-US" sz="1800" u="none" cap="none" strike="noStrik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1800" u="none" cap="none" strike="noStrike">
                <a:solidFill>
                  <a:srgbClr val="9F1239"/>
                </a:solidFill>
                <a:latin typeface="Calibri"/>
                <a:ea typeface="Calibri"/>
                <a:cs typeface="Calibri"/>
                <a:sym typeface="Calibri"/>
              </a:rPr>
              <a:t>= no NIAT activities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5"/>
          <p:cNvSpPr/>
          <p:nvPr/>
        </p:nvSpPr>
        <p:spPr>
          <a:xfrm>
            <a:off x="786384" y="2340864"/>
            <a:ext cx="7360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43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3243A"/>
                </a:solidFill>
                <a:latin typeface="Calibri"/>
                <a:ea typeface="Calibri"/>
                <a:cs typeface="Calibri"/>
                <a:sym typeface="Calibri"/>
              </a:rPr>
              <a:t>Even a single </a:t>
            </a:r>
            <a:r>
              <a:rPr b="1" lang="en-US" sz="1250">
                <a:solidFill>
                  <a:srgbClr val="23243A"/>
                </a:solidFill>
                <a:latin typeface="Calibri"/>
                <a:ea typeface="Calibri"/>
                <a:cs typeface="Calibri"/>
                <a:sym typeface="Calibri"/>
              </a:rPr>
              <a:t>Skill Debt</a:t>
            </a:r>
            <a:r>
              <a:rPr b="0" i="0" lang="en-US" sz="1250" u="none" cap="none" strike="noStrike">
                <a:solidFill>
                  <a:srgbClr val="23243A"/>
                </a:solidFill>
                <a:latin typeface="Calibri"/>
                <a:ea typeface="Calibri"/>
                <a:cs typeface="Calibri"/>
                <a:sym typeface="Calibri"/>
              </a:rPr>
              <a:t> makes you </a:t>
            </a:r>
            <a:r>
              <a:rPr b="1" i="0" lang="en-US" sz="1250" u="none" cap="none" strike="noStrike">
                <a:solidFill>
                  <a:srgbClr val="23243A"/>
                </a:solidFill>
                <a:latin typeface="Calibri"/>
                <a:ea typeface="Calibri"/>
                <a:cs typeface="Calibri"/>
                <a:sym typeface="Calibri"/>
              </a:rPr>
              <a:t>ineligible for all NIAT-specific activities</a:t>
            </a:r>
            <a:r>
              <a:rPr b="0" i="0" lang="en-US" sz="1250" u="none" cap="none" strike="noStrike">
                <a:solidFill>
                  <a:srgbClr val="23243A"/>
                </a:solidFill>
                <a:latin typeface="Calibri"/>
                <a:ea typeface="Calibri"/>
                <a:cs typeface="Calibri"/>
                <a:sym typeface="Calibri"/>
              </a:rPr>
              <a:t> until it's cleared.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5"/>
          <p:cNvSpPr/>
          <p:nvPr/>
        </p:nvSpPr>
        <p:spPr>
          <a:xfrm>
            <a:off x="786384" y="2688336"/>
            <a:ext cx="7315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1239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9F1239"/>
                </a:solidFill>
                <a:latin typeface="Calibri"/>
                <a:ea typeface="Calibri"/>
                <a:cs typeface="Calibri"/>
                <a:sym typeface="Calibri"/>
              </a:rPr>
              <a:t>ON HOLD WHILE ANY </a:t>
            </a:r>
            <a:r>
              <a:rPr b="1" lang="en-US" sz="1000">
                <a:solidFill>
                  <a:srgbClr val="9F1239"/>
                </a:solidFill>
                <a:latin typeface="Calibri"/>
                <a:ea typeface="Calibri"/>
                <a:cs typeface="Calibri"/>
                <a:sym typeface="Calibri"/>
              </a:rPr>
              <a:t>SKILL DEBT</a:t>
            </a:r>
            <a:r>
              <a:rPr b="1" i="0" lang="en-US" sz="1000" u="none" cap="none" strike="noStrike">
                <a:solidFill>
                  <a:srgbClr val="9F1239"/>
                </a:solidFill>
                <a:latin typeface="Calibri"/>
                <a:ea typeface="Calibri"/>
                <a:cs typeface="Calibri"/>
                <a:sym typeface="Calibri"/>
              </a:rPr>
              <a:t> IS ACTIVE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5"/>
          <p:cNvSpPr/>
          <p:nvPr/>
        </p:nvSpPr>
        <p:spPr>
          <a:xfrm>
            <a:off x="786384" y="2926080"/>
            <a:ext cx="621900" cy="3108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F3B6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5"/>
          <p:cNvSpPr/>
          <p:nvPr/>
        </p:nvSpPr>
        <p:spPr>
          <a:xfrm>
            <a:off x="786384" y="2926080"/>
            <a:ext cx="6219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F123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9F1239"/>
                </a:solidFill>
                <a:latin typeface="Calibri"/>
                <a:ea typeface="Calibri"/>
                <a:cs typeface="Calibri"/>
                <a:sym typeface="Calibri"/>
              </a:rPr>
              <a:t>MINT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5"/>
          <p:cNvSpPr/>
          <p:nvPr/>
        </p:nvSpPr>
        <p:spPr>
          <a:xfrm>
            <a:off x="1536192" y="2926080"/>
            <a:ext cx="699600" cy="3108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F3B6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5"/>
          <p:cNvSpPr/>
          <p:nvPr/>
        </p:nvSpPr>
        <p:spPr>
          <a:xfrm>
            <a:off x="1536192" y="2926080"/>
            <a:ext cx="6996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F123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9F1239"/>
                </a:solidFill>
                <a:latin typeface="Calibri"/>
                <a:ea typeface="Calibri"/>
                <a:cs typeface="Calibri"/>
                <a:sym typeface="Calibri"/>
              </a:rPr>
              <a:t>BRAVE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5"/>
          <p:cNvSpPr/>
          <p:nvPr/>
        </p:nvSpPr>
        <p:spPr>
          <a:xfrm>
            <a:off x="2363724" y="2926080"/>
            <a:ext cx="621900" cy="3108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F3B6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5"/>
          <p:cNvSpPr/>
          <p:nvPr/>
        </p:nvSpPr>
        <p:spPr>
          <a:xfrm>
            <a:off x="2363724" y="2926080"/>
            <a:ext cx="6219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F123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9F1239"/>
                </a:solidFill>
                <a:latin typeface="Calibri"/>
                <a:ea typeface="Calibri"/>
                <a:cs typeface="Calibri"/>
                <a:sym typeface="Calibri"/>
              </a:rPr>
              <a:t>GRIT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5"/>
          <p:cNvSpPr/>
          <p:nvPr/>
        </p:nvSpPr>
        <p:spPr>
          <a:xfrm>
            <a:off x="3113532" y="2926080"/>
            <a:ext cx="1088100" cy="3108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F3B6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5"/>
          <p:cNvSpPr/>
          <p:nvPr/>
        </p:nvSpPr>
        <p:spPr>
          <a:xfrm>
            <a:off x="3113532" y="2926080"/>
            <a:ext cx="10881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F123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9F1239"/>
                </a:solidFill>
                <a:latin typeface="Calibri"/>
                <a:ea typeface="Calibri"/>
                <a:cs typeface="Calibri"/>
                <a:sym typeface="Calibri"/>
              </a:rPr>
              <a:t>Placements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5"/>
          <p:cNvSpPr/>
          <p:nvPr/>
        </p:nvSpPr>
        <p:spPr>
          <a:xfrm>
            <a:off x="4329684" y="2926080"/>
            <a:ext cx="1165800" cy="3108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F3B6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5"/>
          <p:cNvSpPr/>
          <p:nvPr/>
        </p:nvSpPr>
        <p:spPr>
          <a:xfrm>
            <a:off x="4329684" y="2926080"/>
            <a:ext cx="1165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F123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9F1239"/>
                </a:solidFill>
                <a:latin typeface="Calibri"/>
                <a:ea typeface="Calibri"/>
                <a:cs typeface="Calibri"/>
                <a:sym typeface="Calibri"/>
              </a:rPr>
              <a:t>Internships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5"/>
          <p:cNvSpPr/>
          <p:nvPr/>
        </p:nvSpPr>
        <p:spPr>
          <a:xfrm>
            <a:off x="5623560" y="2926080"/>
            <a:ext cx="1943100" cy="3108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F3B6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5"/>
          <p:cNvSpPr/>
          <p:nvPr/>
        </p:nvSpPr>
        <p:spPr>
          <a:xfrm>
            <a:off x="5623560" y="2926080"/>
            <a:ext cx="19431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F123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9F1239"/>
                </a:solidFill>
                <a:latin typeface="Calibri"/>
                <a:ea typeface="Calibri"/>
                <a:cs typeface="Calibri"/>
                <a:sym typeface="Calibri"/>
              </a:rPr>
              <a:t>Co-curricular support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5"/>
          <p:cNvSpPr/>
          <p:nvPr/>
        </p:nvSpPr>
        <p:spPr>
          <a:xfrm>
            <a:off x="548640" y="3566160"/>
            <a:ext cx="8046600" cy="567000"/>
          </a:xfrm>
          <a:prstGeom prst="roundRect">
            <a:avLst>
              <a:gd fmla="val 19355" name="adj"/>
            </a:avLst>
          </a:prstGeom>
          <a:solidFill>
            <a:srgbClr val="1E1B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5"/>
          <p:cNvSpPr/>
          <p:nvPr/>
        </p:nvSpPr>
        <p:spPr>
          <a:xfrm>
            <a:off x="713232" y="3666744"/>
            <a:ext cx="347400" cy="347400"/>
          </a:xfrm>
          <a:prstGeom prst="roundRect">
            <a:avLst>
              <a:gd fmla="val 2800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5" name="Google Shape;33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7049" y="3760561"/>
            <a:ext cx="159837" cy="159837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15"/>
          <p:cNvSpPr/>
          <p:nvPr/>
        </p:nvSpPr>
        <p:spPr>
          <a:xfrm>
            <a:off x="1188720" y="3566160"/>
            <a:ext cx="72696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Placements &amp; internships:  </a:t>
            </a:r>
            <a:r>
              <a:rPr b="0" i="0" lang="en-US" sz="1150" u="none" cap="none" strike="noStrike">
                <a:solidFill>
                  <a:srgbClr val="E2E4F6"/>
                </a:solidFill>
                <a:latin typeface="Calibri"/>
                <a:ea typeface="Calibri"/>
                <a:cs typeface="Calibri"/>
                <a:sym typeface="Calibri"/>
              </a:rPr>
              <a:t>not eligible for placement drives or internship nominations until every </a:t>
            </a:r>
            <a:r>
              <a:rPr lang="en-US" sz="1150">
                <a:solidFill>
                  <a:srgbClr val="E2E4F6"/>
                </a:solidFill>
                <a:latin typeface="Calibri"/>
                <a:ea typeface="Calibri"/>
                <a:cs typeface="Calibri"/>
                <a:sym typeface="Calibri"/>
              </a:rPr>
              <a:t>skill debt</a:t>
            </a:r>
            <a:r>
              <a:rPr b="0" i="0" lang="en-US" sz="1150" u="none" cap="none" strike="noStrike">
                <a:solidFill>
                  <a:srgbClr val="E2E4F6"/>
                </a:solidFill>
                <a:latin typeface="Calibri"/>
                <a:ea typeface="Calibri"/>
                <a:cs typeface="Calibri"/>
                <a:sym typeface="Calibri"/>
              </a:rPr>
              <a:t> is cleared.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5"/>
          <p:cNvSpPr/>
          <p:nvPr/>
        </p:nvSpPr>
        <p:spPr>
          <a:xfrm>
            <a:off x="548640" y="4224528"/>
            <a:ext cx="8046600" cy="567000"/>
          </a:xfrm>
          <a:prstGeom prst="roundRect">
            <a:avLst>
              <a:gd fmla="val 19355" name="adj"/>
            </a:avLst>
          </a:prstGeom>
          <a:solidFill>
            <a:srgbClr val="EEF0FB"/>
          </a:solidFill>
          <a:ln cap="flat" cmpd="sng" w="12700">
            <a:solidFill>
              <a:srgbClr val="DADD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5"/>
          <p:cNvSpPr/>
          <p:nvPr/>
        </p:nvSpPr>
        <p:spPr>
          <a:xfrm>
            <a:off x="713232" y="4325112"/>
            <a:ext cx="347400" cy="347400"/>
          </a:xfrm>
          <a:prstGeom prst="roundRect">
            <a:avLst>
              <a:gd fmla="val 28000" name="adj"/>
            </a:avLst>
          </a:prstGeom>
          <a:solidFill>
            <a:srgbClr val="4F46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9" name="Google Shape;33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7049" y="4418929"/>
            <a:ext cx="159837" cy="159837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15"/>
          <p:cNvSpPr/>
          <p:nvPr/>
        </p:nvSpPr>
        <p:spPr>
          <a:xfrm>
            <a:off x="1188720" y="4224528"/>
            <a:ext cx="72696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Time limit:  </a:t>
            </a:r>
            <a:r>
              <a:rPr b="0" i="0" lang="en-US" sz="1150" u="none" cap="none" strike="noStrike">
                <a:solidFill>
                  <a:srgbClr val="23243A"/>
                </a:solidFill>
                <a:latin typeface="Calibri"/>
                <a:ea typeface="Calibri"/>
                <a:cs typeface="Calibri"/>
                <a:sym typeface="Calibri"/>
              </a:rPr>
              <a:t>clear all </a:t>
            </a:r>
            <a:r>
              <a:rPr lang="en-US" sz="1150">
                <a:solidFill>
                  <a:srgbClr val="23243A"/>
                </a:solidFill>
                <a:latin typeface="Calibri"/>
                <a:ea typeface="Calibri"/>
                <a:cs typeface="Calibri"/>
                <a:sym typeface="Calibri"/>
              </a:rPr>
              <a:t>Skill Debts</a:t>
            </a:r>
            <a:r>
              <a:rPr b="0" i="0" lang="en-US" sz="1150" u="none" cap="none" strike="noStrike">
                <a:solidFill>
                  <a:srgbClr val="23243A"/>
                </a:solidFill>
                <a:latin typeface="Calibri"/>
                <a:ea typeface="Calibri"/>
                <a:cs typeface="Calibri"/>
                <a:sym typeface="Calibri"/>
              </a:rPr>
              <a:t> within </a:t>
            </a:r>
            <a:r>
              <a:rPr lang="en-US" sz="1150">
                <a:solidFill>
                  <a:srgbClr val="23243A"/>
                </a:solidFill>
                <a:latin typeface="Calibri"/>
                <a:ea typeface="Calibri"/>
                <a:cs typeface="Calibri"/>
                <a:sym typeface="Calibri"/>
              </a:rPr>
              <a:t>next cycle</a:t>
            </a:r>
            <a:r>
              <a:rPr b="0" i="0" lang="en-US" sz="1150" u="none" cap="none" strike="noStrike">
                <a:solidFill>
                  <a:srgbClr val="23243A"/>
                </a:solidFill>
                <a:latin typeface="Calibri"/>
                <a:ea typeface="Calibri"/>
                <a:cs typeface="Calibri"/>
                <a:sym typeface="Calibri"/>
              </a:rPr>
              <a:t>, or face review (possible program extension or discontinuation).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D"/>
        </a:solid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6"/>
          <p:cNvSpPr/>
          <p:nvPr/>
        </p:nvSpPr>
        <p:spPr>
          <a:xfrm>
            <a:off x="8138160" y="4864608"/>
            <a:ext cx="457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7186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6E7186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6"/>
          <p:cNvSpPr/>
          <p:nvPr/>
        </p:nvSpPr>
        <p:spPr>
          <a:xfrm>
            <a:off x="566928" y="402336"/>
            <a:ext cx="7772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4FD6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5B4FD6"/>
                </a:solidFill>
                <a:latin typeface="Calibri"/>
                <a:ea typeface="Calibri"/>
                <a:cs typeface="Calibri"/>
                <a:sym typeface="Calibri"/>
              </a:rPr>
              <a:t>RECOVERY MODE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6"/>
          <p:cNvSpPr/>
          <p:nvPr/>
        </p:nvSpPr>
        <p:spPr>
          <a:xfrm>
            <a:off x="548640" y="658368"/>
            <a:ext cx="81381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0E9E68"/>
                </a:solidFill>
                <a:latin typeface="Calibri"/>
                <a:ea typeface="Calibri"/>
                <a:cs typeface="Calibri"/>
                <a:sym typeface="Calibri"/>
              </a:rPr>
              <a:t>Attendance </a:t>
            </a:r>
            <a:r>
              <a:rPr b="1" i="0" lang="en-US" sz="3000" u="none" cap="none" strike="noStrike">
                <a:solidFill>
                  <a:srgbClr val="3C3489"/>
                </a:solidFill>
                <a:latin typeface="Calibri"/>
                <a:ea typeface="Calibri"/>
                <a:cs typeface="Calibri"/>
                <a:sym typeface="Calibri"/>
              </a:rPr>
              <a:t>&amp; </a:t>
            </a:r>
            <a:r>
              <a:rPr b="1" lang="en-US" sz="3000">
                <a:solidFill>
                  <a:srgbClr val="3C3489"/>
                </a:solidFill>
                <a:latin typeface="Calibri"/>
                <a:ea typeface="Calibri"/>
                <a:cs typeface="Calibri"/>
                <a:sym typeface="Calibri"/>
              </a:rPr>
              <a:t>Recovery</a:t>
            </a:r>
            <a:r>
              <a:rPr b="1" i="0" lang="en-US" sz="3000" u="none" cap="none" strike="noStrike">
                <a:solidFill>
                  <a:srgbClr val="3C348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3000">
                <a:solidFill>
                  <a:srgbClr val="3C3489"/>
                </a:solidFill>
                <a:latin typeface="Calibri"/>
                <a:ea typeface="Calibri"/>
                <a:cs typeface="Calibri"/>
                <a:sym typeface="Calibri"/>
              </a:rPr>
              <a:t>Mode</a:t>
            </a:r>
            <a:endParaRPr b="0" i="0" sz="3000" u="none" cap="none" strike="noStrike">
              <a:solidFill>
                <a:srgbClr val="3C34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6"/>
          <p:cNvSpPr/>
          <p:nvPr/>
        </p:nvSpPr>
        <p:spPr>
          <a:xfrm>
            <a:off x="548640" y="1225296"/>
            <a:ext cx="8046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43A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23243A"/>
                </a:solidFill>
                <a:latin typeface="Calibri"/>
                <a:ea typeface="Calibri"/>
                <a:cs typeface="Calibri"/>
                <a:sym typeface="Calibri"/>
              </a:rPr>
              <a:t>Recovery Mode is a</a:t>
            </a:r>
            <a:r>
              <a:rPr b="0" i="0" lang="en-US" sz="1350" u="none" cap="none" strike="noStrike">
                <a:solidFill>
                  <a:srgbClr val="23243A"/>
                </a:solidFill>
                <a:latin typeface="Calibri"/>
                <a:ea typeface="Calibri"/>
                <a:cs typeface="Calibri"/>
                <a:sym typeface="Calibri"/>
              </a:rPr>
              <a:t> mandatory way to recover attendance and catch up on missed learning — not a punishment.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6"/>
          <p:cNvSpPr/>
          <p:nvPr/>
        </p:nvSpPr>
        <p:spPr>
          <a:xfrm>
            <a:off x="548640" y="1828800"/>
            <a:ext cx="3931800" cy="1371600"/>
          </a:xfrm>
          <a:prstGeom prst="roundRect">
            <a:avLst>
              <a:gd fmla="val 9333" name="adj"/>
            </a:avLst>
          </a:prstGeom>
          <a:solidFill>
            <a:srgbClr val="FFFFFF"/>
          </a:solidFill>
          <a:ln cap="flat" cmpd="sng" w="12700">
            <a:solidFill>
              <a:srgbClr val="E6E7F2"/>
            </a:solidFill>
            <a:prstDash val="solid"/>
            <a:round/>
            <a:headEnd len="sm" w="sm" type="none"/>
            <a:tailEnd len="sm" w="sm" type="none"/>
          </a:ln>
          <a:effectLst>
            <a:outerShdw blurRad="139700" rotWithShape="0" algn="bl" dir="5400000" dist="38100">
              <a:srgbClr val="5B5E7A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6"/>
          <p:cNvSpPr/>
          <p:nvPr/>
        </p:nvSpPr>
        <p:spPr>
          <a:xfrm>
            <a:off x="786384" y="2240280"/>
            <a:ext cx="548700" cy="548700"/>
          </a:xfrm>
          <a:prstGeom prst="roundRect">
            <a:avLst>
              <a:gd fmla="val 28000" name="adj"/>
            </a:avLst>
          </a:prstGeom>
          <a:solidFill>
            <a:srgbClr val="4F46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2" name="Google Shape;35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4517" y="2388413"/>
            <a:ext cx="252374" cy="252374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16"/>
          <p:cNvSpPr/>
          <p:nvPr/>
        </p:nvSpPr>
        <p:spPr>
          <a:xfrm>
            <a:off x="1499616" y="2139696"/>
            <a:ext cx="27981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Miss a class</a:t>
            </a:r>
            <a:endParaRPr b="0" i="0" sz="14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6"/>
          <p:cNvSpPr/>
          <p:nvPr/>
        </p:nvSpPr>
        <p:spPr>
          <a:xfrm>
            <a:off x="1499616" y="2505456"/>
            <a:ext cx="28164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23243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3243A"/>
                </a:solidFill>
                <a:latin typeface="Calibri"/>
                <a:ea typeface="Calibri"/>
                <a:cs typeface="Calibri"/>
                <a:sym typeface="Calibri"/>
              </a:rPr>
              <a:t>Counts as absent toward attendance. </a:t>
            </a:r>
            <a:br>
              <a:rPr b="0" i="0" lang="en-US" sz="1150" u="none" cap="none" strike="noStrike">
                <a:solidFill>
                  <a:srgbClr val="23243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50" u="none" cap="none" strike="noStrike">
                <a:solidFill>
                  <a:srgbClr val="23243A"/>
                </a:solidFill>
                <a:latin typeface="Calibri"/>
                <a:ea typeface="Calibri"/>
                <a:cs typeface="Calibri"/>
                <a:sym typeface="Calibri"/>
              </a:rPr>
              <a:t>Missed content must be caught up — </a:t>
            </a:r>
            <a:r>
              <a:rPr lang="en-US" sz="1150">
                <a:solidFill>
                  <a:srgbClr val="23243A"/>
                </a:solidFill>
                <a:latin typeface="Calibri"/>
                <a:ea typeface="Calibri"/>
                <a:cs typeface="Calibri"/>
                <a:sym typeface="Calibri"/>
              </a:rPr>
              <a:t>through</a:t>
            </a:r>
            <a:r>
              <a:rPr b="0" i="0" lang="en-US" sz="1150" u="none" cap="none" strike="noStrike">
                <a:solidFill>
                  <a:srgbClr val="23243A"/>
                </a:solidFill>
                <a:latin typeface="Calibri"/>
                <a:ea typeface="Calibri"/>
                <a:cs typeface="Calibri"/>
                <a:sym typeface="Calibri"/>
              </a:rPr>
              <a:t> recording doesn't undo the absence.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6"/>
          <p:cNvSpPr/>
          <p:nvPr/>
        </p:nvSpPr>
        <p:spPr>
          <a:xfrm>
            <a:off x="4663440" y="1828800"/>
            <a:ext cx="3931800" cy="1371600"/>
          </a:xfrm>
          <a:prstGeom prst="roundRect">
            <a:avLst>
              <a:gd fmla="val 9333" name="adj"/>
            </a:avLst>
          </a:prstGeom>
          <a:solidFill>
            <a:srgbClr val="FFFFFF"/>
          </a:solidFill>
          <a:ln cap="flat" cmpd="sng" w="12700">
            <a:solidFill>
              <a:srgbClr val="E6E7F2"/>
            </a:solidFill>
            <a:prstDash val="solid"/>
            <a:round/>
            <a:headEnd len="sm" w="sm" type="none"/>
            <a:tailEnd len="sm" w="sm" type="none"/>
          </a:ln>
          <a:effectLst>
            <a:outerShdw blurRad="139700" rotWithShape="0" algn="bl" dir="5400000" dist="38100">
              <a:srgbClr val="5B5E7A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6"/>
          <p:cNvSpPr/>
          <p:nvPr/>
        </p:nvSpPr>
        <p:spPr>
          <a:xfrm>
            <a:off x="4901184" y="2240280"/>
            <a:ext cx="548700" cy="548700"/>
          </a:xfrm>
          <a:prstGeom prst="roundRect">
            <a:avLst>
              <a:gd fmla="val 28000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7" name="Google Shape;35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49317" y="2388413"/>
            <a:ext cx="252374" cy="252374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16"/>
          <p:cNvSpPr/>
          <p:nvPr/>
        </p:nvSpPr>
        <p:spPr>
          <a:xfrm>
            <a:off x="5614416" y="2139696"/>
            <a:ext cx="27981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Attendance drops below 80%</a:t>
            </a:r>
            <a:endParaRPr b="0" i="0" sz="14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6"/>
          <p:cNvSpPr/>
          <p:nvPr/>
        </p:nvSpPr>
        <p:spPr>
          <a:xfrm>
            <a:off x="5614416" y="2505456"/>
            <a:ext cx="28164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23243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3243A"/>
                </a:solidFill>
                <a:latin typeface="Calibri"/>
                <a:ea typeface="Calibri"/>
                <a:cs typeface="Calibri"/>
                <a:sym typeface="Calibri"/>
              </a:rPr>
              <a:t>Placed in </a:t>
            </a:r>
            <a:r>
              <a:rPr lang="en-US" sz="1150">
                <a:solidFill>
                  <a:srgbClr val="23243A"/>
                </a:solidFill>
                <a:latin typeface="Calibri"/>
                <a:ea typeface="Calibri"/>
                <a:cs typeface="Calibri"/>
                <a:sym typeface="Calibri"/>
              </a:rPr>
              <a:t>Recovery mode</a:t>
            </a:r>
            <a:r>
              <a:rPr b="0" i="0" lang="en-US" sz="1150" u="none" cap="none" strike="noStrike">
                <a:solidFill>
                  <a:srgbClr val="23243A"/>
                </a:solidFill>
                <a:latin typeface="Calibri"/>
                <a:ea typeface="Calibri"/>
                <a:cs typeface="Calibri"/>
                <a:sym typeface="Calibri"/>
              </a:rPr>
              <a:t>, with assigned classes to recover attendance and the topics missed.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6"/>
          <p:cNvSpPr/>
          <p:nvPr/>
        </p:nvSpPr>
        <p:spPr>
          <a:xfrm>
            <a:off x="548640" y="3310128"/>
            <a:ext cx="3931800" cy="1371600"/>
          </a:xfrm>
          <a:prstGeom prst="roundRect">
            <a:avLst>
              <a:gd fmla="val 9333" name="adj"/>
            </a:avLst>
          </a:prstGeom>
          <a:solidFill>
            <a:srgbClr val="FFFFFF"/>
          </a:solidFill>
          <a:ln cap="flat" cmpd="sng" w="12700">
            <a:solidFill>
              <a:srgbClr val="E6E7F2"/>
            </a:solidFill>
            <a:prstDash val="solid"/>
            <a:round/>
            <a:headEnd len="sm" w="sm" type="none"/>
            <a:tailEnd len="sm" w="sm" type="none"/>
          </a:ln>
          <a:effectLst>
            <a:outerShdw blurRad="139700" rotWithShape="0" algn="bl" dir="5400000" dist="38100">
              <a:srgbClr val="5B5E7A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6"/>
          <p:cNvSpPr/>
          <p:nvPr/>
        </p:nvSpPr>
        <p:spPr>
          <a:xfrm>
            <a:off x="786384" y="3721608"/>
            <a:ext cx="548700" cy="548700"/>
          </a:xfrm>
          <a:prstGeom prst="roundRect">
            <a:avLst>
              <a:gd fmla="val 2800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2" name="Google Shape;36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34517" y="3869741"/>
            <a:ext cx="252374" cy="252374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16"/>
          <p:cNvSpPr/>
          <p:nvPr/>
        </p:nvSpPr>
        <p:spPr>
          <a:xfrm>
            <a:off x="1499616" y="3621024"/>
            <a:ext cx="27981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450"/>
              <a:buFont typeface="Calibri"/>
              <a:buNone/>
            </a:pPr>
            <a:r>
              <a:rPr b="1" lang="en-US" sz="1450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Attend Recovery classes, reach 80%</a:t>
            </a:r>
            <a:endParaRPr b="0" i="0" sz="14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6"/>
          <p:cNvSpPr/>
          <p:nvPr/>
        </p:nvSpPr>
        <p:spPr>
          <a:xfrm>
            <a:off x="1499616" y="3932413"/>
            <a:ext cx="28164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23243A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23243A"/>
                </a:solidFill>
                <a:latin typeface="Calibri"/>
                <a:ea typeface="Calibri"/>
                <a:cs typeface="Calibri"/>
                <a:sym typeface="Calibri"/>
              </a:rPr>
              <a:t>you're back to normal: all benefits will open again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6"/>
          <p:cNvSpPr/>
          <p:nvPr/>
        </p:nvSpPr>
        <p:spPr>
          <a:xfrm>
            <a:off x="4663440" y="3310128"/>
            <a:ext cx="3931800" cy="1371600"/>
          </a:xfrm>
          <a:prstGeom prst="roundRect">
            <a:avLst>
              <a:gd fmla="val 9333" name="adj"/>
            </a:avLst>
          </a:prstGeom>
          <a:solidFill>
            <a:srgbClr val="FFFFFF"/>
          </a:solidFill>
          <a:ln cap="flat" cmpd="sng" w="12700">
            <a:solidFill>
              <a:srgbClr val="E6E7F2"/>
            </a:solidFill>
            <a:prstDash val="solid"/>
            <a:round/>
            <a:headEnd len="sm" w="sm" type="none"/>
            <a:tailEnd len="sm" w="sm" type="none"/>
          </a:ln>
          <a:effectLst>
            <a:outerShdw blurRad="139700" rotWithShape="0" algn="bl" dir="5400000" dist="38100">
              <a:srgbClr val="5B5E7A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6"/>
          <p:cNvSpPr/>
          <p:nvPr/>
        </p:nvSpPr>
        <p:spPr>
          <a:xfrm>
            <a:off x="4901184" y="3721608"/>
            <a:ext cx="548700" cy="548700"/>
          </a:xfrm>
          <a:prstGeom prst="roundRect">
            <a:avLst>
              <a:gd fmla="val 28000" name="adj"/>
            </a:avLst>
          </a:prstGeom>
          <a:solidFill>
            <a:srgbClr val="F43F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7" name="Google Shape;367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49317" y="3869741"/>
            <a:ext cx="252374" cy="252374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16"/>
          <p:cNvSpPr/>
          <p:nvPr/>
        </p:nvSpPr>
        <p:spPr>
          <a:xfrm>
            <a:off x="5614416" y="3621024"/>
            <a:ext cx="27981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Skip </a:t>
            </a:r>
            <a:r>
              <a:rPr b="1" lang="en-US" sz="1450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Recovery Classes</a:t>
            </a:r>
            <a:endParaRPr b="0" i="0" sz="14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6"/>
          <p:cNvSpPr/>
          <p:nvPr/>
        </p:nvSpPr>
        <p:spPr>
          <a:xfrm>
            <a:off x="5614416" y="3921539"/>
            <a:ext cx="28164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23243A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23243A"/>
                </a:solidFill>
                <a:latin typeface="Calibri"/>
                <a:ea typeface="Calibri"/>
                <a:cs typeface="Calibri"/>
                <a:sym typeface="Calibri"/>
              </a:rPr>
              <a:t>Won't be eligible and won’t be allowed to sit in the </a:t>
            </a:r>
            <a:r>
              <a:rPr lang="en-US" sz="1150">
                <a:solidFill>
                  <a:srgbClr val="23243A"/>
                </a:solidFill>
                <a:latin typeface="Calibri"/>
                <a:ea typeface="Calibri"/>
                <a:cs typeface="Calibri"/>
                <a:sym typeface="Calibri"/>
              </a:rPr>
              <a:t>assessment</a:t>
            </a:r>
            <a:r>
              <a:rPr lang="en-US" sz="1150">
                <a:solidFill>
                  <a:srgbClr val="23243A"/>
                </a:solidFill>
                <a:latin typeface="Calibri"/>
                <a:ea typeface="Calibri"/>
                <a:cs typeface="Calibri"/>
                <a:sym typeface="Calibri"/>
              </a:rPr>
              <a:t>, and the </a:t>
            </a:r>
            <a:r>
              <a:rPr lang="en-US" sz="1150">
                <a:solidFill>
                  <a:srgbClr val="23243A"/>
                </a:solidFill>
                <a:latin typeface="Calibri"/>
                <a:ea typeface="Calibri"/>
                <a:cs typeface="Calibri"/>
                <a:sym typeface="Calibri"/>
              </a:rPr>
              <a:t>course</a:t>
            </a:r>
            <a:r>
              <a:rPr lang="en-US" sz="1150">
                <a:solidFill>
                  <a:srgbClr val="23243A"/>
                </a:solidFill>
                <a:latin typeface="Calibri"/>
                <a:ea typeface="Calibri"/>
                <a:cs typeface="Calibri"/>
                <a:sym typeface="Calibri"/>
              </a:rPr>
              <a:t> is marked under skill debt automatically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D"/>
        </a:solidFill>
      </p:bgPr>
    </p:bg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7"/>
          <p:cNvSpPr/>
          <p:nvPr/>
        </p:nvSpPr>
        <p:spPr>
          <a:xfrm>
            <a:off x="8138160" y="4864608"/>
            <a:ext cx="457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7186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6E7186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7"/>
          <p:cNvSpPr/>
          <p:nvPr/>
        </p:nvSpPr>
        <p:spPr>
          <a:xfrm>
            <a:off x="566938" y="461071"/>
            <a:ext cx="7772400" cy="23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B4FD6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5B4FD6"/>
                </a:solidFill>
                <a:latin typeface="Calibri"/>
                <a:ea typeface="Calibri"/>
                <a:cs typeface="Calibri"/>
                <a:sym typeface="Calibri"/>
              </a:rPr>
              <a:t>RECOVERY MODE</a:t>
            </a:r>
            <a:endParaRPr b="1" sz="1250">
              <a:solidFill>
                <a:srgbClr val="5B4FD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7"/>
          <p:cNvSpPr/>
          <p:nvPr/>
        </p:nvSpPr>
        <p:spPr>
          <a:xfrm>
            <a:off x="548650" y="731210"/>
            <a:ext cx="8138100" cy="63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3C3489"/>
                </a:solidFill>
                <a:latin typeface="Calibri"/>
                <a:ea typeface="Calibri"/>
                <a:cs typeface="Calibri"/>
                <a:sym typeface="Calibri"/>
              </a:rPr>
              <a:t>How </a:t>
            </a:r>
            <a:r>
              <a:rPr b="1" lang="en-US" sz="3000">
                <a:solidFill>
                  <a:srgbClr val="0E9E68"/>
                </a:solidFill>
                <a:latin typeface="Calibri"/>
                <a:ea typeface="Calibri"/>
                <a:cs typeface="Calibri"/>
                <a:sym typeface="Calibri"/>
              </a:rPr>
              <a:t>Recovery Mode</a:t>
            </a:r>
            <a:r>
              <a:rPr b="1" i="0" lang="en-US" sz="3000" u="none" cap="none" strike="noStrike">
                <a:solidFill>
                  <a:srgbClr val="0E9E6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3000" u="none" cap="none" strike="noStrike">
                <a:solidFill>
                  <a:srgbClr val="3C3489"/>
                </a:solidFill>
                <a:latin typeface="Calibri"/>
                <a:ea typeface="Calibri"/>
                <a:cs typeface="Calibri"/>
                <a:sym typeface="Calibri"/>
              </a:rPr>
              <a:t>Works</a:t>
            </a:r>
            <a:endParaRPr b="0" i="0" sz="3000" u="none" cap="none" strike="noStrike">
              <a:solidFill>
                <a:srgbClr val="3C34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7"/>
          <p:cNvSpPr/>
          <p:nvPr/>
        </p:nvSpPr>
        <p:spPr>
          <a:xfrm>
            <a:off x="548650" y="1329374"/>
            <a:ext cx="80466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43A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23243A"/>
                </a:solidFill>
                <a:latin typeface="Calibri"/>
                <a:ea typeface="Calibri"/>
                <a:cs typeface="Calibri"/>
                <a:sym typeface="Calibri"/>
              </a:rPr>
              <a:t>What to expect, how to clear it, and how genuine absences are handled.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7"/>
          <p:cNvSpPr/>
          <p:nvPr/>
        </p:nvSpPr>
        <p:spPr>
          <a:xfrm>
            <a:off x="548650" y="2014368"/>
            <a:ext cx="2560200" cy="2527800"/>
          </a:xfrm>
          <a:prstGeom prst="roundRect">
            <a:avLst>
              <a:gd fmla="val 6107" name="adj"/>
            </a:avLst>
          </a:prstGeom>
          <a:solidFill>
            <a:srgbClr val="FFFFFF"/>
          </a:solidFill>
          <a:ln cap="flat" cmpd="sng" w="12700">
            <a:solidFill>
              <a:srgbClr val="E6E7F2"/>
            </a:solidFill>
            <a:prstDash val="solid"/>
            <a:round/>
            <a:headEnd len="sm" w="sm" type="none"/>
            <a:tailEnd len="sm" w="sm" type="none"/>
          </a:ln>
          <a:effectLst>
            <a:outerShdw blurRad="139700" rotWithShape="0" algn="bl" dir="5400000" dist="38100">
              <a:srgbClr val="5B5E7A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7"/>
          <p:cNvSpPr/>
          <p:nvPr/>
        </p:nvSpPr>
        <p:spPr>
          <a:xfrm>
            <a:off x="786394" y="2303803"/>
            <a:ext cx="603600" cy="636900"/>
          </a:xfrm>
          <a:prstGeom prst="roundRect">
            <a:avLst>
              <a:gd fmla="val 28000" name="adj"/>
            </a:avLst>
          </a:prstGeom>
          <a:solidFill>
            <a:srgbClr val="4F46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1" name="Google Shape;38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9340" y="2475727"/>
            <a:ext cx="277612" cy="292908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17"/>
          <p:cNvSpPr/>
          <p:nvPr/>
        </p:nvSpPr>
        <p:spPr>
          <a:xfrm>
            <a:off x="786394" y="3056332"/>
            <a:ext cx="21030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How it works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7"/>
          <p:cNvSpPr/>
          <p:nvPr/>
        </p:nvSpPr>
        <p:spPr>
          <a:xfrm>
            <a:off x="768094" y="3335617"/>
            <a:ext cx="2103000" cy="86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3243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3243A"/>
                </a:solidFill>
                <a:latin typeface="Calibri"/>
                <a:ea typeface="Calibri"/>
                <a:cs typeface="Calibri"/>
                <a:sym typeface="Calibri"/>
              </a:rPr>
              <a:t>Scheduled outside regular </a:t>
            </a:r>
            <a:r>
              <a:rPr lang="en-US" sz="1100">
                <a:solidFill>
                  <a:srgbClr val="23243A"/>
                </a:solidFill>
                <a:latin typeface="Calibri"/>
                <a:ea typeface="Calibri"/>
                <a:cs typeface="Calibri"/>
                <a:sym typeface="Calibri"/>
              </a:rPr>
              <a:t>college</a:t>
            </a:r>
            <a:r>
              <a:rPr b="0" i="0" lang="en-US" sz="1100" u="none" cap="none" strike="noStrike">
                <a:solidFill>
                  <a:srgbClr val="23243A"/>
                </a:solidFill>
                <a:latin typeface="Calibri"/>
                <a:ea typeface="Calibri"/>
                <a:cs typeface="Calibri"/>
                <a:sym typeface="Calibri"/>
              </a:rPr>
              <a:t> hours. Compulsory and tracked like a normal class — camera on if online.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7"/>
          <p:cNvSpPr/>
          <p:nvPr/>
        </p:nvSpPr>
        <p:spPr>
          <a:xfrm>
            <a:off x="3291850" y="2014368"/>
            <a:ext cx="2560200" cy="2527800"/>
          </a:xfrm>
          <a:prstGeom prst="roundRect">
            <a:avLst>
              <a:gd fmla="val 6107" name="adj"/>
            </a:avLst>
          </a:prstGeom>
          <a:solidFill>
            <a:srgbClr val="FFFFFF"/>
          </a:solidFill>
          <a:ln cap="flat" cmpd="sng" w="12700">
            <a:solidFill>
              <a:srgbClr val="E6E7F2"/>
            </a:solidFill>
            <a:prstDash val="solid"/>
            <a:round/>
            <a:headEnd len="sm" w="sm" type="none"/>
            <a:tailEnd len="sm" w="sm" type="none"/>
          </a:ln>
          <a:effectLst>
            <a:outerShdw blurRad="139700" rotWithShape="0" algn="bl" dir="5400000" dist="38100">
              <a:srgbClr val="5B5E7A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7"/>
          <p:cNvSpPr/>
          <p:nvPr/>
        </p:nvSpPr>
        <p:spPr>
          <a:xfrm>
            <a:off x="3529594" y="2303803"/>
            <a:ext cx="603600" cy="636900"/>
          </a:xfrm>
          <a:prstGeom prst="roundRect">
            <a:avLst>
              <a:gd fmla="val 2800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6" name="Google Shape;38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92540" y="2475727"/>
            <a:ext cx="277612" cy="292908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17"/>
          <p:cNvSpPr/>
          <p:nvPr/>
        </p:nvSpPr>
        <p:spPr>
          <a:xfrm>
            <a:off x="3529594" y="3056332"/>
            <a:ext cx="21030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How to clear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7"/>
          <p:cNvSpPr/>
          <p:nvPr/>
        </p:nvSpPr>
        <p:spPr>
          <a:xfrm>
            <a:off x="3529594" y="3335621"/>
            <a:ext cx="2103000" cy="86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3243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3243A"/>
                </a:solidFill>
                <a:latin typeface="Calibri"/>
                <a:ea typeface="Calibri"/>
                <a:cs typeface="Calibri"/>
                <a:sym typeface="Calibri"/>
              </a:rPr>
              <a:t>Attend every </a:t>
            </a:r>
            <a:r>
              <a:rPr lang="en-US" sz="1100">
                <a:solidFill>
                  <a:srgbClr val="23243A"/>
                </a:solidFill>
                <a:latin typeface="Calibri"/>
                <a:ea typeface="Calibri"/>
                <a:cs typeface="Calibri"/>
                <a:sym typeface="Calibri"/>
              </a:rPr>
              <a:t>recovery</a:t>
            </a:r>
            <a:r>
              <a:rPr b="0" i="0" lang="en-US" sz="1100" u="none" cap="none" strike="noStrike">
                <a:solidFill>
                  <a:srgbClr val="23243A"/>
                </a:solidFill>
                <a:latin typeface="Calibri"/>
                <a:ea typeface="Calibri"/>
                <a:cs typeface="Calibri"/>
                <a:sym typeface="Calibri"/>
              </a:rPr>
              <a:t> session </a:t>
            </a:r>
            <a:r>
              <a:rPr lang="en-US" sz="1100">
                <a:solidFill>
                  <a:srgbClr val="23243A"/>
                </a:solidFill>
                <a:latin typeface="Calibri"/>
                <a:ea typeface="Calibri"/>
                <a:cs typeface="Calibri"/>
                <a:sym typeface="Calibri"/>
              </a:rPr>
              <a:t>mandatorily</a:t>
            </a:r>
            <a:r>
              <a:rPr b="0" i="0" lang="en-US" sz="1100" u="none" cap="none" strike="noStrike">
                <a:solidFill>
                  <a:srgbClr val="23243A"/>
                </a:solidFill>
                <a:latin typeface="Calibri"/>
                <a:ea typeface="Calibri"/>
                <a:cs typeface="Calibri"/>
                <a:sym typeface="Calibri"/>
              </a:rPr>
              <a:t>, restore attendance to the required level, and complete any pending catch-up work for the missed topics.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7"/>
          <p:cNvSpPr/>
          <p:nvPr/>
        </p:nvSpPr>
        <p:spPr>
          <a:xfrm>
            <a:off x="6035050" y="2014368"/>
            <a:ext cx="2560200" cy="2527800"/>
          </a:xfrm>
          <a:prstGeom prst="roundRect">
            <a:avLst>
              <a:gd fmla="val 6107" name="adj"/>
            </a:avLst>
          </a:prstGeom>
          <a:solidFill>
            <a:srgbClr val="FFFFFF"/>
          </a:solidFill>
          <a:ln cap="flat" cmpd="sng" w="12700">
            <a:solidFill>
              <a:srgbClr val="E6E7F2"/>
            </a:solidFill>
            <a:prstDash val="solid"/>
            <a:round/>
            <a:headEnd len="sm" w="sm" type="none"/>
            <a:tailEnd len="sm" w="sm" type="none"/>
          </a:ln>
          <a:effectLst>
            <a:outerShdw blurRad="139700" rotWithShape="0" algn="bl" dir="5400000" dist="38100">
              <a:srgbClr val="5B5E7A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7"/>
          <p:cNvSpPr/>
          <p:nvPr/>
        </p:nvSpPr>
        <p:spPr>
          <a:xfrm>
            <a:off x="6272794" y="2303803"/>
            <a:ext cx="603600" cy="636900"/>
          </a:xfrm>
          <a:prstGeom prst="roundRect">
            <a:avLst>
              <a:gd fmla="val 28000" name="adj"/>
            </a:avLst>
          </a:prstGeom>
          <a:solidFill>
            <a:srgbClr val="1E1B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91" name="Google Shape;39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35740" y="2475727"/>
            <a:ext cx="277612" cy="292908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17"/>
          <p:cNvSpPr/>
          <p:nvPr/>
        </p:nvSpPr>
        <p:spPr>
          <a:xfrm>
            <a:off x="6254500" y="2998488"/>
            <a:ext cx="22764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Medical &amp; genuine absences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7"/>
          <p:cNvSpPr/>
          <p:nvPr/>
        </p:nvSpPr>
        <p:spPr>
          <a:xfrm>
            <a:off x="6272794" y="3335634"/>
            <a:ext cx="2103000" cy="86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3243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3243A"/>
                </a:solidFill>
                <a:latin typeface="Calibri"/>
                <a:ea typeface="Calibri"/>
                <a:cs typeface="Calibri"/>
                <a:sym typeface="Calibri"/>
              </a:rPr>
              <a:t>For a genuine medical or emergency reason, inform the mentor and submit valid proof (e.g. a medical certificate) within </a:t>
            </a:r>
            <a:r>
              <a:rPr lang="en-US" sz="1100">
                <a:solidFill>
                  <a:srgbClr val="23243A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b="0" i="0" lang="en-US" sz="1100" u="none" cap="none" strike="noStrike">
                <a:solidFill>
                  <a:srgbClr val="23243A"/>
                </a:solidFill>
                <a:latin typeface="Calibri"/>
                <a:ea typeface="Calibri"/>
                <a:cs typeface="Calibri"/>
                <a:sym typeface="Calibri"/>
              </a:rPr>
              <a:t> days — reviewed case by case.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B4B"/>
        </a:solidFill>
      </p:bgPr>
    </p:bg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8"/>
          <p:cNvSpPr/>
          <p:nvPr/>
        </p:nvSpPr>
        <p:spPr>
          <a:xfrm>
            <a:off x="566928" y="420624"/>
            <a:ext cx="8046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Honesty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8"/>
          <p:cNvSpPr/>
          <p:nvPr/>
        </p:nvSpPr>
        <p:spPr>
          <a:xfrm>
            <a:off x="548640" y="694944"/>
            <a:ext cx="81381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Cheating in Exam</a:t>
            </a: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: Zero Toleranc</a:t>
            </a:r>
            <a:r>
              <a:rPr b="1" lang="en-US"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8"/>
          <p:cNvSpPr/>
          <p:nvPr/>
        </p:nvSpPr>
        <p:spPr>
          <a:xfrm>
            <a:off x="548640" y="1591056"/>
            <a:ext cx="658368" cy="658368"/>
          </a:xfrm>
          <a:prstGeom prst="roundRect">
            <a:avLst>
              <a:gd fmla="val 28000" name="adj"/>
            </a:avLst>
          </a:prstGeom>
          <a:solidFill>
            <a:srgbClr val="F43F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02" name="Google Shape;40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9816" y="1762232"/>
            <a:ext cx="316017" cy="316017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18"/>
          <p:cNvSpPr/>
          <p:nvPr/>
        </p:nvSpPr>
        <p:spPr>
          <a:xfrm>
            <a:off x="1371600" y="1572768"/>
            <a:ext cx="722376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E2E4F6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E2E4F6"/>
                </a:solidFill>
                <a:latin typeface="Calibri"/>
                <a:ea typeface="Calibri"/>
                <a:cs typeface="Calibri"/>
                <a:sym typeface="Calibri"/>
              </a:rPr>
              <a:t>Cheating, fabricating data, unauthorised collaboration and falsifying records are all breaches.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8"/>
          <p:cNvSpPr/>
          <p:nvPr/>
        </p:nvSpPr>
        <p:spPr>
          <a:xfrm>
            <a:off x="566928" y="2414016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WHAT COUNTS AS A BREACH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8"/>
          <p:cNvSpPr/>
          <p:nvPr/>
        </p:nvSpPr>
        <p:spPr>
          <a:xfrm>
            <a:off x="566928" y="2688336"/>
            <a:ext cx="932688" cy="365760"/>
          </a:xfrm>
          <a:prstGeom prst="roundRect">
            <a:avLst>
              <a:gd fmla="val 50000" name="adj"/>
            </a:avLst>
          </a:prstGeom>
          <a:solidFill>
            <a:srgbClr val="2B29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8"/>
          <p:cNvSpPr/>
          <p:nvPr/>
        </p:nvSpPr>
        <p:spPr>
          <a:xfrm>
            <a:off x="566928" y="2688336"/>
            <a:ext cx="9326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4F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2E4F6"/>
                </a:solidFill>
                <a:latin typeface="Calibri"/>
                <a:ea typeface="Calibri"/>
                <a:cs typeface="Calibri"/>
                <a:sym typeface="Calibri"/>
              </a:rPr>
              <a:t>Cheating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8"/>
          <p:cNvSpPr/>
          <p:nvPr/>
        </p:nvSpPr>
        <p:spPr>
          <a:xfrm>
            <a:off x="1618488" y="2688336"/>
            <a:ext cx="1088136" cy="365760"/>
          </a:xfrm>
          <a:prstGeom prst="roundRect">
            <a:avLst>
              <a:gd fmla="val 50000" name="adj"/>
            </a:avLst>
          </a:prstGeom>
          <a:solidFill>
            <a:srgbClr val="2B29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8"/>
          <p:cNvSpPr/>
          <p:nvPr/>
        </p:nvSpPr>
        <p:spPr>
          <a:xfrm>
            <a:off x="1618488" y="2688336"/>
            <a:ext cx="10881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4F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2E4F6"/>
                </a:solidFill>
                <a:latin typeface="Calibri"/>
                <a:ea typeface="Calibri"/>
                <a:cs typeface="Calibri"/>
                <a:sym typeface="Calibri"/>
              </a:rPr>
              <a:t>Plagiarism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8"/>
          <p:cNvSpPr/>
          <p:nvPr/>
        </p:nvSpPr>
        <p:spPr>
          <a:xfrm>
            <a:off x="2825496" y="2688336"/>
            <a:ext cx="1554480" cy="365760"/>
          </a:xfrm>
          <a:prstGeom prst="roundRect">
            <a:avLst>
              <a:gd fmla="val 50000" name="adj"/>
            </a:avLst>
          </a:prstGeom>
          <a:solidFill>
            <a:srgbClr val="2B29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8"/>
          <p:cNvSpPr/>
          <p:nvPr/>
        </p:nvSpPr>
        <p:spPr>
          <a:xfrm>
            <a:off x="2825496" y="2688336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4F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2E4F6"/>
                </a:solidFill>
                <a:latin typeface="Calibri"/>
                <a:ea typeface="Calibri"/>
                <a:cs typeface="Calibri"/>
                <a:sym typeface="Calibri"/>
              </a:rPr>
              <a:t>Fabricating data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8"/>
          <p:cNvSpPr/>
          <p:nvPr/>
        </p:nvSpPr>
        <p:spPr>
          <a:xfrm>
            <a:off x="4498848" y="2688336"/>
            <a:ext cx="2331720" cy="365760"/>
          </a:xfrm>
          <a:prstGeom prst="roundRect">
            <a:avLst>
              <a:gd fmla="val 50000" name="adj"/>
            </a:avLst>
          </a:prstGeom>
          <a:solidFill>
            <a:srgbClr val="2B29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8"/>
          <p:cNvSpPr/>
          <p:nvPr/>
        </p:nvSpPr>
        <p:spPr>
          <a:xfrm>
            <a:off x="4498848" y="2688336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4F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2E4F6"/>
                </a:solidFill>
                <a:latin typeface="Calibri"/>
                <a:ea typeface="Calibri"/>
                <a:cs typeface="Calibri"/>
                <a:sym typeface="Calibri"/>
              </a:rPr>
              <a:t>Unauthorised collaboration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8"/>
          <p:cNvSpPr/>
          <p:nvPr/>
        </p:nvSpPr>
        <p:spPr>
          <a:xfrm>
            <a:off x="6949440" y="2688336"/>
            <a:ext cx="1709928" cy="365760"/>
          </a:xfrm>
          <a:prstGeom prst="roundRect">
            <a:avLst>
              <a:gd fmla="val 50000" name="adj"/>
            </a:avLst>
          </a:prstGeom>
          <a:solidFill>
            <a:srgbClr val="2B29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8"/>
          <p:cNvSpPr/>
          <p:nvPr/>
        </p:nvSpPr>
        <p:spPr>
          <a:xfrm>
            <a:off x="6949440" y="2688336"/>
            <a:ext cx="170992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4F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2E4F6"/>
                </a:solidFill>
                <a:latin typeface="Calibri"/>
                <a:ea typeface="Calibri"/>
                <a:cs typeface="Calibri"/>
                <a:sym typeface="Calibri"/>
              </a:rPr>
              <a:t>Falsifying records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8"/>
          <p:cNvSpPr/>
          <p:nvPr/>
        </p:nvSpPr>
        <p:spPr>
          <a:xfrm>
            <a:off x="566928" y="3236976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THE CONSEQUENCES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8"/>
          <p:cNvSpPr/>
          <p:nvPr/>
        </p:nvSpPr>
        <p:spPr>
          <a:xfrm>
            <a:off x="603504" y="3502152"/>
            <a:ext cx="79552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D8DAF4"/>
              </a:buClr>
              <a:buSzPts val="1230"/>
              <a:buFont typeface="Calibri"/>
              <a:buChar char="•"/>
            </a:pPr>
            <a:r>
              <a:rPr b="0" i="0" lang="en-US" sz="1230" u="none" cap="none" strike="noStrike">
                <a:solidFill>
                  <a:srgbClr val="D8DAF4"/>
                </a:solidFill>
                <a:latin typeface="Calibri"/>
                <a:ea typeface="Calibri"/>
                <a:cs typeface="Calibri"/>
                <a:sym typeface="Calibri"/>
              </a:rPr>
              <a:t>Course result reset to fail — no retake that </a:t>
            </a:r>
            <a:r>
              <a:rPr lang="en-US" sz="1230">
                <a:solidFill>
                  <a:srgbClr val="D8DAF4"/>
                </a:solidFill>
                <a:latin typeface="Calibri"/>
                <a:ea typeface="Calibri"/>
                <a:cs typeface="Calibri"/>
                <a:sym typeface="Calibri"/>
              </a:rPr>
              <a:t>skill cycle</a:t>
            </a:r>
            <a:r>
              <a:rPr b="0" i="0" lang="en-US" sz="1230" u="none" cap="none" strike="noStrike">
                <a:solidFill>
                  <a:srgbClr val="D8DAF4"/>
                </a:solidFill>
                <a:latin typeface="Calibri"/>
                <a:ea typeface="Calibri"/>
                <a:cs typeface="Calibri"/>
                <a:sym typeface="Calibri"/>
              </a:rPr>
              <a:t>; repeat when it reopens</a:t>
            </a:r>
            <a:endParaRPr b="0" i="0" sz="12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D8DAF4"/>
              </a:buClr>
              <a:buSzPts val="1230"/>
              <a:buFont typeface="Calibri"/>
              <a:buChar char="•"/>
            </a:pPr>
            <a:r>
              <a:rPr b="0" i="0" lang="en-US" sz="1230" u="none" cap="none" strike="noStrike">
                <a:solidFill>
                  <a:srgbClr val="D8DAF4"/>
                </a:solidFill>
                <a:latin typeface="Calibri"/>
                <a:ea typeface="Calibri"/>
                <a:cs typeface="Calibri"/>
                <a:sym typeface="Calibri"/>
              </a:rPr>
              <a:t>Removal from any official position or title at NIAT</a:t>
            </a:r>
            <a:endParaRPr b="0" i="0" sz="12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D8DAF4"/>
              </a:buClr>
              <a:buSzPts val="1230"/>
              <a:buFont typeface="Calibri"/>
              <a:buChar char="•"/>
            </a:pPr>
            <a:r>
              <a:rPr b="0" i="0" lang="en-US" sz="1230" u="none" cap="none" strike="noStrike">
                <a:solidFill>
                  <a:srgbClr val="D8DAF4"/>
                </a:solidFill>
                <a:latin typeface="Calibri"/>
                <a:ea typeface="Calibri"/>
                <a:cs typeface="Calibri"/>
                <a:sym typeface="Calibri"/>
              </a:rPr>
              <a:t>Excluded from external PR activities</a:t>
            </a:r>
            <a:endParaRPr b="0" i="0" sz="12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B4B"/>
        </a:solidFill>
      </p:bgPr>
    </p:bg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19"/>
          <p:cNvSpPr/>
          <p:nvPr/>
        </p:nvSpPr>
        <p:spPr>
          <a:xfrm>
            <a:off x="7223760" y="-1371600"/>
            <a:ext cx="3657600" cy="3657600"/>
          </a:xfrm>
          <a:prstGeom prst="ellipse">
            <a:avLst/>
          </a:prstGeom>
          <a:solidFill>
            <a:srgbClr val="10B981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9"/>
          <p:cNvSpPr/>
          <p:nvPr/>
        </p:nvSpPr>
        <p:spPr>
          <a:xfrm>
            <a:off x="7955280" y="1097280"/>
            <a:ext cx="1371600" cy="1371600"/>
          </a:xfrm>
          <a:prstGeom prst="ellipse">
            <a:avLst/>
          </a:prstGeom>
          <a:solidFill>
            <a:srgbClr val="4F46E5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9"/>
          <p:cNvSpPr/>
          <p:nvPr/>
        </p:nvSpPr>
        <p:spPr>
          <a:xfrm rot="960000">
            <a:off x="-1920240" y="3291840"/>
            <a:ext cx="4023360" cy="4023360"/>
          </a:xfrm>
          <a:prstGeom prst="roundRect">
            <a:avLst>
              <a:gd fmla="val 25000" name="adj"/>
            </a:avLst>
          </a:prstGeom>
          <a:solidFill>
            <a:srgbClr val="4F46E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9"/>
          <p:cNvSpPr/>
          <p:nvPr/>
        </p:nvSpPr>
        <p:spPr>
          <a:xfrm>
            <a:off x="548640" y="1783080"/>
            <a:ext cx="813816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Calibri"/>
              <a:buNone/>
            </a:pPr>
            <a:r>
              <a:rPr b="1" i="0" lang="en-US" sz="6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b="0" i="0" sz="6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9"/>
          <p:cNvSpPr/>
          <p:nvPr/>
        </p:nvSpPr>
        <p:spPr>
          <a:xfrm>
            <a:off x="603504" y="2999232"/>
            <a:ext cx="155448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9"/>
          <p:cNvSpPr/>
          <p:nvPr/>
        </p:nvSpPr>
        <p:spPr>
          <a:xfrm>
            <a:off x="566928" y="3218688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4F6"/>
              </a:buClr>
              <a:buSzPts val="1900"/>
              <a:buFont typeface="Calibri"/>
              <a:buNone/>
            </a:pPr>
            <a:r>
              <a:rPr b="0" i="0" lang="en-US" sz="1900" u="none" cap="none" strike="noStrike">
                <a:solidFill>
                  <a:srgbClr val="E2E4F6"/>
                </a:solidFill>
                <a:latin typeface="Calibri"/>
                <a:ea typeface="Calibri"/>
                <a:cs typeface="Calibri"/>
                <a:sym typeface="Calibri"/>
              </a:rPr>
              <a:t>Here's to a skill-ready you.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9"/>
          <p:cNvSpPr/>
          <p:nvPr/>
        </p:nvSpPr>
        <p:spPr>
          <a:xfrm>
            <a:off x="548640" y="4864608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FC0"/>
              </a:buClr>
              <a:buSzPts val="850"/>
              <a:buFont typeface="Calibri"/>
              <a:buNone/>
            </a:pPr>
            <a:r>
              <a:t/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